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2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Arial Bold" charset="1" panose="020B0704020202020204"/>
      <p:regular r:id="rId15"/>
    </p:embeddedFont>
    <p:embeddedFont>
      <p:font typeface="Arial" charset="1" panose="020B06040202020202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notesMasters/notesMaster1.xml" Type="http://schemas.openxmlformats.org/officeDocument/2006/relationships/notesMaster"/><Relationship Id="rId13" Target="theme/theme2.xml" Type="http://schemas.openxmlformats.org/officeDocument/2006/relationships/theme"/><Relationship Id="rId14" Target="notesSlides/notesSlide1.xml" Type="http://schemas.openxmlformats.org/officeDocument/2006/relationships/notes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notesSlides/notesSlide2.xml" Type="http://schemas.openxmlformats.org/officeDocument/2006/relationships/notesSlide"/><Relationship Id="rId18" Target="notesSlides/notesSlide3.xml" Type="http://schemas.openxmlformats.org/officeDocument/2006/relationships/notesSlide"/><Relationship Id="rId19" Target="notesSlides/notesSlide4.xml" Type="http://schemas.openxmlformats.org/officeDocument/2006/relationships/notesSlide"/><Relationship Id="rId2" Target="presProps.xml" Type="http://schemas.openxmlformats.org/officeDocument/2006/relationships/presProps"/><Relationship Id="rId20" Target="notesSlides/notesSlide5.xml" Type="http://schemas.openxmlformats.org/officeDocument/2006/relationships/notesSlide"/><Relationship Id="rId21" Target="notesSlides/notesSlide6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2.jpe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2.jpe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Relationship Id="rId8" Target="../media/image1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2.jpe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5.png" Type="http://schemas.openxmlformats.org/officeDocument/2006/relationships/image"/><Relationship Id="rId7" Target="../media/image17.png" Type="http://schemas.openxmlformats.org/officeDocument/2006/relationships/image"/><Relationship Id="rId8" Target="../media/image18.png" Type="http://schemas.openxmlformats.org/officeDocument/2006/relationships/image"/><Relationship Id="rId9" Target="../media/image1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2.jpeg" Type="http://schemas.openxmlformats.org/officeDocument/2006/relationships/image"/><Relationship Id="rId4" Target="../media/image2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44859"/>
            <a:chOff x="0" y="0"/>
            <a:chExt cx="24417871" cy="3264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326517"/>
            </a:xfrm>
            <a:custGeom>
              <a:avLst/>
              <a:gdLst/>
              <a:ahLst/>
              <a:cxnLst/>
              <a:rect r="r" b="b" t="t" l="l"/>
              <a:pathLst>
                <a:path h="326517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326517"/>
                  </a:lnTo>
                  <a:lnTo>
                    <a:pt x="0" y="326517"/>
                  </a:lnTo>
                  <a:close/>
                </a:path>
              </a:pathLst>
            </a:custGeom>
            <a:solidFill>
              <a:srgbClr val="4F46E5"/>
            </a:solidFill>
            <a:ln w="25400" cap="sq">
              <a:solidFill>
                <a:srgbClr val="4F46E5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12697" y="-12697"/>
            <a:ext cx="299723" cy="10312403"/>
            <a:chOff x="0" y="0"/>
            <a:chExt cx="399631" cy="1374987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99669" cy="13749910"/>
            </a:xfrm>
            <a:custGeom>
              <a:avLst/>
              <a:gdLst/>
              <a:ahLst/>
              <a:cxnLst/>
              <a:rect r="r" b="b" t="t" l="l"/>
              <a:pathLst>
                <a:path h="13749910" w="399669">
                  <a:moveTo>
                    <a:pt x="0" y="0"/>
                  </a:moveTo>
                  <a:lnTo>
                    <a:pt x="399669" y="0"/>
                  </a:lnTo>
                  <a:lnTo>
                    <a:pt x="399669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4F46E5"/>
            </a:solidFill>
            <a:ln w="25400" cap="sq">
              <a:solidFill>
                <a:srgbClr val="4F46E5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7942583" y="901703"/>
            <a:ext cx="2402843" cy="2402843"/>
            <a:chOff x="0" y="0"/>
            <a:chExt cx="3203791" cy="320379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203829" cy="3203829"/>
            </a:xfrm>
            <a:custGeom>
              <a:avLst/>
              <a:gdLst/>
              <a:ahLst/>
              <a:cxnLst/>
              <a:rect r="r" b="b" t="t" l="l"/>
              <a:pathLst>
                <a:path h="3203829" w="3203829">
                  <a:moveTo>
                    <a:pt x="0" y="1601851"/>
                  </a:moveTo>
                  <a:cubicBezTo>
                    <a:pt x="0" y="717169"/>
                    <a:pt x="717169" y="0"/>
                    <a:pt x="1601851" y="0"/>
                  </a:cubicBezTo>
                  <a:cubicBezTo>
                    <a:pt x="2486533" y="0"/>
                    <a:pt x="3203829" y="717169"/>
                    <a:pt x="3203829" y="1601851"/>
                  </a:cubicBezTo>
                  <a:cubicBezTo>
                    <a:pt x="3203829" y="2486533"/>
                    <a:pt x="2486533" y="3203829"/>
                    <a:pt x="1601851" y="3203829"/>
                  </a:cubicBezTo>
                  <a:cubicBezTo>
                    <a:pt x="717169" y="3203829"/>
                    <a:pt x="0" y="2486533"/>
                    <a:pt x="0" y="1601851"/>
                  </a:cubicBezTo>
                  <a:close/>
                </a:path>
              </a:pathLst>
            </a:custGeom>
            <a:solidFill>
              <a:srgbClr val="E0E7FF"/>
            </a:solidFill>
            <a:ln w="25400" cap="sq">
              <a:solidFill>
                <a:srgbClr val="E0E7FF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8412480" y="1371600"/>
            <a:ext cx="1463040" cy="1463040"/>
            <a:chOff x="0" y="0"/>
            <a:chExt cx="1950720" cy="195072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1950720" cy="1950720"/>
            </a:xfrm>
            <a:custGeom>
              <a:avLst/>
              <a:gdLst/>
              <a:ahLst/>
              <a:cxnLst/>
              <a:rect r="r" b="b" t="t" l="l"/>
              <a:pathLst>
                <a:path h="195072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1950720"/>
                  </a:lnTo>
                  <a:lnTo>
                    <a:pt x="0" y="1950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63040" y="3566160"/>
            <a:ext cx="15361920" cy="640080"/>
            <a:chOff x="0" y="0"/>
            <a:chExt cx="20482560" cy="8534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482561" cy="853440"/>
            </a:xfrm>
            <a:custGeom>
              <a:avLst/>
              <a:gdLst/>
              <a:ahLst/>
              <a:cxnLst/>
              <a:rect r="r" b="b" t="t" l="l"/>
              <a:pathLst>
                <a:path h="85344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17640" r="0" b="-41764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2048256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b="true" sz="2799" spc="600">
                  <a:solidFill>
                    <a:srgbClr val="4F46E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TN Skills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63040" y="4297680"/>
            <a:ext cx="15361920" cy="1280160"/>
            <a:chOff x="0" y="0"/>
            <a:chExt cx="20482560" cy="17068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0482561" cy="1706880"/>
            </a:xfrm>
            <a:custGeom>
              <a:avLst/>
              <a:gdLst/>
              <a:ahLst/>
              <a:cxnLst/>
              <a:rect r="r" b="b" t="t" l="l"/>
              <a:pathLst>
                <a:path h="170688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0482560" cy="1744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0559"/>
                </a:lnSpc>
              </a:pPr>
              <a:r>
                <a:rPr lang="en-US" sz="8799" b="true">
                  <a:solidFill>
                    <a:srgbClr val="1E1B4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EduGenie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63040" y="5669280"/>
            <a:ext cx="15361920" cy="731520"/>
            <a:chOff x="0" y="0"/>
            <a:chExt cx="20482560" cy="9753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0482561" cy="975360"/>
            </a:xfrm>
            <a:custGeom>
              <a:avLst/>
              <a:gdLst/>
              <a:ahLst/>
              <a:cxnLst/>
              <a:rect r="r" b="b" t="t" l="l"/>
              <a:pathLst>
                <a:path h="97536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59185" r="0" b="-359185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20482560" cy="10039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Google Gemini Powered Learning Assistant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388103" y="6753863"/>
            <a:ext cx="5511803" cy="80267"/>
            <a:chOff x="0" y="0"/>
            <a:chExt cx="7349071" cy="10702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349109" cy="107061"/>
            </a:xfrm>
            <a:custGeom>
              <a:avLst/>
              <a:gdLst/>
              <a:ahLst/>
              <a:cxnLst/>
              <a:rect r="r" b="b" t="t" l="l"/>
              <a:pathLst>
                <a:path h="107061" w="7349109">
                  <a:moveTo>
                    <a:pt x="0" y="0"/>
                  </a:moveTo>
                  <a:lnTo>
                    <a:pt x="7349109" y="0"/>
                  </a:lnTo>
                  <a:lnTo>
                    <a:pt x="7349109" y="107061"/>
                  </a:lnTo>
                  <a:lnTo>
                    <a:pt x="0" y="107061"/>
                  </a:lnTo>
                  <a:close/>
                </a:path>
              </a:pathLst>
            </a:custGeom>
            <a:solidFill>
              <a:srgbClr val="E2E8F0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463040" y="7315200"/>
            <a:ext cx="15361920" cy="640080"/>
            <a:chOff x="0" y="0"/>
            <a:chExt cx="20482560" cy="8534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0482561" cy="853440"/>
            </a:xfrm>
            <a:custGeom>
              <a:avLst/>
              <a:gdLst/>
              <a:ahLst/>
              <a:cxnLst/>
              <a:rect r="r" b="b" t="t" l="l"/>
              <a:pathLst>
                <a:path h="85344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17640" r="0" b="-41764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2048256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E1B4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Team Leader: S. Nisha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463040" y="8046720"/>
            <a:ext cx="15361920" cy="640080"/>
            <a:chOff x="0" y="0"/>
            <a:chExt cx="20482560" cy="8534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0482561" cy="853440"/>
            </a:xfrm>
            <a:custGeom>
              <a:avLst/>
              <a:gdLst/>
              <a:ahLst/>
              <a:cxnLst/>
              <a:rect r="r" b="b" t="t" l="l"/>
              <a:pathLst>
                <a:path h="853440" w="20482561">
                  <a:moveTo>
                    <a:pt x="0" y="0"/>
                  </a:moveTo>
                  <a:lnTo>
                    <a:pt x="20482561" y="0"/>
                  </a:lnTo>
                  <a:lnTo>
                    <a:pt x="20482561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17640" r="0" b="-41764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2048256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Team Members: K. Nishanth  •  S. Nishanthini  •  P.S. Prathap  •  K. Prakash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44859"/>
            <a:chOff x="0" y="0"/>
            <a:chExt cx="24417871" cy="3264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326517"/>
            </a:xfrm>
            <a:custGeom>
              <a:avLst/>
              <a:gdLst/>
              <a:ahLst/>
              <a:cxnLst/>
              <a:rect r="r" b="b" t="t" l="l"/>
              <a:pathLst>
                <a:path h="326517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326517"/>
                  </a:lnTo>
                  <a:lnTo>
                    <a:pt x="0" y="326517"/>
                  </a:lnTo>
                  <a:close/>
                </a:path>
              </a:pathLst>
            </a:custGeom>
            <a:solidFill>
              <a:srgbClr val="4F46E5"/>
            </a:solidFill>
            <a:ln w="25400" cap="sq">
              <a:solidFill>
                <a:srgbClr val="4F46E5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640080"/>
            <a:ext cx="9144000" cy="548640"/>
            <a:chOff x="0" y="0"/>
            <a:chExt cx="12192000" cy="7315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192000" cy="731520"/>
            </a:xfrm>
            <a:custGeom>
              <a:avLst/>
              <a:gdLst/>
              <a:ahLst/>
              <a:cxnLst/>
              <a:rect r="r" b="b" t="t" l="l"/>
              <a:pathLst>
                <a:path h="73152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21920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 spc="400">
                  <a:solidFill>
                    <a:srgbClr val="4F46E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WHAT IS EDUGENIE?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1280160"/>
            <a:ext cx="16459200" cy="1645920"/>
            <a:chOff x="0" y="0"/>
            <a:chExt cx="21945600" cy="219456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1945600" cy="22136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1E1B4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An AI Learning Companion</a:t>
              </a:r>
            </a:p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1E1B4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Powered by Google Gemini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01703" y="3187703"/>
            <a:ext cx="16484603" cy="2402843"/>
            <a:chOff x="0" y="0"/>
            <a:chExt cx="21979471" cy="320379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79382" cy="3203702"/>
            </a:xfrm>
            <a:custGeom>
              <a:avLst/>
              <a:gdLst/>
              <a:ahLst/>
              <a:cxnLst/>
              <a:rect r="r" b="b" t="t" l="l"/>
              <a:pathLst>
                <a:path h="3203702" w="21979382">
                  <a:moveTo>
                    <a:pt x="0" y="246380"/>
                  </a:moveTo>
                  <a:cubicBezTo>
                    <a:pt x="0" y="110363"/>
                    <a:pt x="110363" y="0"/>
                    <a:pt x="246380" y="0"/>
                  </a:cubicBezTo>
                  <a:lnTo>
                    <a:pt x="21733002" y="0"/>
                  </a:lnTo>
                  <a:cubicBezTo>
                    <a:pt x="21869146" y="0"/>
                    <a:pt x="21979382" y="110363"/>
                    <a:pt x="21979382" y="246380"/>
                  </a:cubicBezTo>
                  <a:lnTo>
                    <a:pt x="21979382" y="2957322"/>
                  </a:lnTo>
                  <a:cubicBezTo>
                    <a:pt x="21979382" y="3093466"/>
                    <a:pt x="21869019" y="3203702"/>
                    <a:pt x="21733002" y="3203702"/>
                  </a:cubicBezTo>
                  <a:lnTo>
                    <a:pt x="246380" y="3203702"/>
                  </a:lnTo>
                  <a:cubicBezTo>
                    <a:pt x="110236" y="3203702"/>
                    <a:pt x="0" y="3093339"/>
                    <a:pt x="0" y="2957322"/>
                  </a:cubicBezTo>
                  <a:close/>
                </a:path>
              </a:pathLst>
            </a:custGeom>
            <a:solidFill>
              <a:srgbClr val="F8FAFC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371600" y="3566160"/>
            <a:ext cx="15544800" cy="1828800"/>
            <a:chOff x="0" y="0"/>
            <a:chExt cx="20726400" cy="2438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07264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5622" r="0" b="-115622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20726400" cy="2457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EduGenie is a smart, pocket-friendly learning assistant that uses Google Gemini AI to help students understand concepts, clear doubts, practice with quizzes, and follow personalized study plans — anytime, anywhere.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01703" y="6022343"/>
            <a:ext cx="5511803" cy="3500123"/>
            <a:chOff x="0" y="0"/>
            <a:chExt cx="7349071" cy="466683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349110" cy="4666869"/>
            </a:xfrm>
            <a:custGeom>
              <a:avLst/>
              <a:gdLst/>
              <a:ahLst/>
              <a:cxnLst/>
              <a:rect r="r" b="b" t="t" l="l"/>
              <a:pathLst>
                <a:path h="4666869" w="7349110">
                  <a:moveTo>
                    <a:pt x="0" y="245618"/>
                  </a:moveTo>
                  <a:cubicBezTo>
                    <a:pt x="0" y="109982"/>
                    <a:pt x="109982" y="0"/>
                    <a:pt x="245618" y="0"/>
                  </a:cubicBezTo>
                  <a:lnTo>
                    <a:pt x="7103491" y="0"/>
                  </a:lnTo>
                  <a:cubicBezTo>
                    <a:pt x="7239127" y="0"/>
                    <a:pt x="7349110" y="109982"/>
                    <a:pt x="7349110" y="245618"/>
                  </a:cubicBezTo>
                  <a:lnTo>
                    <a:pt x="7349110" y="4421251"/>
                  </a:lnTo>
                  <a:cubicBezTo>
                    <a:pt x="7349110" y="4556887"/>
                    <a:pt x="7239127" y="4666869"/>
                    <a:pt x="7103491" y="4666869"/>
                  </a:cubicBezTo>
                  <a:lnTo>
                    <a:pt x="245618" y="4666869"/>
                  </a:lnTo>
                  <a:cubicBezTo>
                    <a:pt x="109982" y="4666869"/>
                    <a:pt x="0" y="4556887"/>
                    <a:pt x="0" y="4421251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3004823" y="6388103"/>
            <a:ext cx="1031243" cy="1031243"/>
            <a:chOff x="0" y="0"/>
            <a:chExt cx="1374991" cy="137499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7490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cubicBezTo>
                    <a:pt x="1067054" y="0"/>
                    <a:pt x="1374902" y="307848"/>
                    <a:pt x="1374902" y="687451"/>
                  </a:cubicBezTo>
                  <a:cubicBezTo>
                    <a:pt x="1374902" y="1067054"/>
                    <a:pt x="1067054" y="1374902"/>
                    <a:pt x="687451" y="1374902"/>
                  </a:cubicBezTo>
                  <a:cubicBezTo>
                    <a:pt x="307848" y="1374902"/>
                    <a:pt x="0" y="1067181"/>
                    <a:pt x="0" y="687451"/>
                  </a:cubicBezTo>
                  <a:close/>
                </a:path>
              </a:pathLst>
            </a:custGeom>
            <a:solidFill>
              <a:srgbClr val="E0E7FF"/>
            </a:solidFill>
            <a:ln w="25400" cap="sq">
              <a:solidFill>
                <a:srgbClr val="E0E7FF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3200400" y="6583680"/>
            <a:ext cx="640080" cy="640080"/>
            <a:chOff x="0" y="0"/>
            <a:chExt cx="853440" cy="853440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188720" y="7680960"/>
            <a:ext cx="4937760" cy="640080"/>
            <a:chOff x="0" y="0"/>
            <a:chExt cx="6583680" cy="8534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583680" cy="853440"/>
            </a:xfrm>
            <a:custGeom>
              <a:avLst/>
              <a:gdLst/>
              <a:ahLst/>
              <a:cxnLst/>
              <a:rect r="r" b="b" t="t" l="l"/>
              <a:pathLst>
                <a:path h="85344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313" r="0" b="-100313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658368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1E1B4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Understands You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188720" y="8321040"/>
            <a:ext cx="4937760" cy="1005840"/>
            <a:chOff x="0" y="0"/>
            <a:chExt cx="6583680" cy="13411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5836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653" r="0" b="-45653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6583680" cy="13601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Gemini AI grasps your questions in natural language and gives clear, student-friendly explanations.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6662423" y="6022343"/>
            <a:ext cx="5511803" cy="3500123"/>
            <a:chOff x="0" y="0"/>
            <a:chExt cx="7349071" cy="466683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349110" cy="4666869"/>
            </a:xfrm>
            <a:custGeom>
              <a:avLst/>
              <a:gdLst/>
              <a:ahLst/>
              <a:cxnLst/>
              <a:rect r="r" b="b" t="t" l="l"/>
              <a:pathLst>
                <a:path h="4666869" w="7349110">
                  <a:moveTo>
                    <a:pt x="0" y="245618"/>
                  </a:moveTo>
                  <a:cubicBezTo>
                    <a:pt x="0" y="109982"/>
                    <a:pt x="109982" y="0"/>
                    <a:pt x="245618" y="0"/>
                  </a:cubicBezTo>
                  <a:lnTo>
                    <a:pt x="7103491" y="0"/>
                  </a:lnTo>
                  <a:cubicBezTo>
                    <a:pt x="7239127" y="0"/>
                    <a:pt x="7349110" y="109982"/>
                    <a:pt x="7349110" y="245618"/>
                  </a:cubicBezTo>
                  <a:lnTo>
                    <a:pt x="7349110" y="4421251"/>
                  </a:lnTo>
                  <a:cubicBezTo>
                    <a:pt x="7349110" y="4556887"/>
                    <a:pt x="7239127" y="4666869"/>
                    <a:pt x="7103491" y="4666869"/>
                  </a:cubicBezTo>
                  <a:lnTo>
                    <a:pt x="245618" y="4666869"/>
                  </a:lnTo>
                  <a:cubicBezTo>
                    <a:pt x="109982" y="4666869"/>
                    <a:pt x="0" y="4556887"/>
                    <a:pt x="0" y="4421251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8765543" y="6388103"/>
            <a:ext cx="1031243" cy="1031243"/>
            <a:chOff x="0" y="0"/>
            <a:chExt cx="1374991" cy="137499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37490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cubicBezTo>
                    <a:pt x="1067054" y="0"/>
                    <a:pt x="1374902" y="307848"/>
                    <a:pt x="1374902" y="687451"/>
                  </a:cubicBezTo>
                  <a:cubicBezTo>
                    <a:pt x="1374902" y="1067054"/>
                    <a:pt x="1067054" y="1374902"/>
                    <a:pt x="687451" y="1374902"/>
                  </a:cubicBezTo>
                  <a:cubicBezTo>
                    <a:pt x="307848" y="1374902"/>
                    <a:pt x="0" y="1067181"/>
                    <a:pt x="0" y="687451"/>
                  </a:cubicBezTo>
                  <a:close/>
                </a:path>
              </a:pathLst>
            </a:custGeom>
            <a:solidFill>
              <a:srgbClr val="E0E7FF"/>
            </a:solidFill>
            <a:ln w="25400" cap="sq">
              <a:solidFill>
                <a:srgbClr val="E0E7FF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8961120" y="6583680"/>
            <a:ext cx="640080" cy="640080"/>
            <a:chOff x="0" y="0"/>
            <a:chExt cx="853440" cy="853440"/>
          </a:xfrm>
        </p:grpSpPr>
        <p:sp>
          <p:nvSpPr>
            <p:cNvPr name="Freeform 32" id="32" descr="preencoded.png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6949440" y="7680960"/>
            <a:ext cx="4937760" cy="640080"/>
            <a:chOff x="0" y="0"/>
            <a:chExt cx="6583680" cy="8534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583680" cy="853440"/>
            </a:xfrm>
            <a:custGeom>
              <a:avLst/>
              <a:gdLst/>
              <a:ahLst/>
              <a:cxnLst/>
              <a:rect r="r" b="b" t="t" l="l"/>
              <a:pathLst>
                <a:path h="85344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313" r="0" b="-100313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658368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1E1B4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Teaches Smartly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6949440" y="8321040"/>
            <a:ext cx="4937760" cy="1005840"/>
            <a:chOff x="0" y="0"/>
            <a:chExt cx="6583680" cy="13411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5836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653" r="0" b="-45653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6583680" cy="13601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Breaks complex topics into simple steps with examples, analogies and summaries.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2423143" y="6022343"/>
            <a:ext cx="5511803" cy="3500123"/>
            <a:chOff x="0" y="0"/>
            <a:chExt cx="7349071" cy="466683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349110" cy="4666869"/>
            </a:xfrm>
            <a:custGeom>
              <a:avLst/>
              <a:gdLst/>
              <a:ahLst/>
              <a:cxnLst/>
              <a:rect r="r" b="b" t="t" l="l"/>
              <a:pathLst>
                <a:path h="4666869" w="7349110">
                  <a:moveTo>
                    <a:pt x="0" y="245618"/>
                  </a:moveTo>
                  <a:cubicBezTo>
                    <a:pt x="0" y="109982"/>
                    <a:pt x="109982" y="0"/>
                    <a:pt x="245618" y="0"/>
                  </a:cubicBezTo>
                  <a:lnTo>
                    <a:pt x="7103491" y="0"/>
                  </a:lnTo>
                  <a:cubicBezTo>
                    <a:pt x="7239127" y="0"/>
                    <a:pt x="7349110" y="109982"/>
                    <a:pt x="7349110" y="245618"/>
                  </a:cubicBezTo>
                  <a:lnTo>
                    <a:pt x="7349110" y="4421251"/>
                  </a:lnTo>
                  <a:cubicBezTo>
                    <a:pt x="7349110" y="4556887"/>
                    <a:pt x="7239127" y="4666869"/>
                    <a:pt x="7103491" y="4666869"/>
                  </a:cubicBezTo>
                  <a:lnTo>
                    <a:pt x="245618" y="4666869"/>
                  </a:lnTo>
                  <a:cubicBezTo>
                    <a:pt x="109982" y="4666869"/>
                    <a:pt x="0" y="4556887"/>
                    <a:pt x="0" y="4421251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4526263" y="6388103"/>
            <a:ext cx="1031243" cy="1031243"/>
            <a:chOff x="0" y="0"/>
            <a:chExt cx="1374991" cy="137499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37490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cubicBezTo>
                    <a:pt x="1067054" y="0"/>
                    <a:pt x="1374902" y="307848"/>
                    <a:pt x="1374902" y="687451"/>
                  </a:cubicBezTo>
                  <a:cubicBezTo>
                    <a:pt x="1374902" y="1067054"/>
                    <a:pt x="1067054" y="1374902"/>
                    <a:pt x="687451" y="1374902"/>
                  </a:cubicBezTo>
                  <a:cubicBezTo>
                    <a:pt x="307848" y="1374902"/>
                    <a:pt x="0" y="1067181"/>
                    <a:pt x="0" y="687451"/>
                  </a:cubicBezTo>
                  <a:close/>
                </a:path>
              </a:pathLst>
            </a:custGeom>
            <a:solidFill>
              <a:srgbClr val="E0E7FF"/>
            </a:solidFill>
            <a:ln w="25400" cap="sq">
              <a:solidFill>
                <a:srgbClr val="E0E7FF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14721840" y="6583680"/>
            <a:ext cx="640080" cy="640080"/>
            <a:chOff x="0" y="0"/>
            <a:chExt cx="853440" cy="853440"/>
          </a:xfrm>
        </p:grpSpPr>
        <p:sp>
          <p:nvSpPr>
            <p:cNvPr name="Freeform 44" id="44" descr="preencoded.png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2710160" y="7680960"/>
            <a:ext cx="4937760" cy="640080"/>
            <a:chOff x="0" y="0"/>
            <a:chExt cx="6583680" cy="8534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583680" cy="853440"/>
            </a:xfrm>
            <a:custGeom>
              <a:avLst/>
              <a:gdLst/>
              <a:ahLst/>
              <a:cxnLst/>
              <a:rect r="r" b="b" t="t" l="l"/>
              <a:pathLst>
                <a:path h="85344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0313" r="0" b="-100313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19050"/>
              <a:ext cx="658368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1E1B4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Always With You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2710160" y="8321040"/>
            <a:ext cx="4937760" cy="1005840"/>
            <a:chOff x="0" y="0"/>
            <a:chExt cx="6583680" cy="134112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583680" cy="1341120"/>
            </a:xfrm>
            <a:custGeom>
              <a:avLst/>
              <a:gdLst/>
              <a:ahLst/>
              <a:cxnLst/>
              <a:rect r="r" b="b" t="t" l="l"/>
              <a:pathLst>
                <a:path h="134112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653" r="0" b="-45653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19050"/>
              <a:ext cx="6583680" cy="13601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Available on your phone or device 24/7 — learn at your own pace, on the go.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44859"/>
            <a:chOff x="0" y="0"/>
            <a:chExt cx="24417871" cy="3264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326517"/>
            </a:xfrm>
            <a:custGeom>
              <a:avLst/>
              <a:gdLst/>
              <a:ahLst/>
              <a:cxnLst/>
              <a:rect r="r" b="b" t="t" l="l"/>
              <a:pathLst>
                <a:path h="326517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326517"/>
                  </a:lnTo>
                  <a:lnTo>
                    <a:pt x="0" y="326517"/>
                  </a:lnTo>
                  <a:close/>
                </a:path>
              </a:pathLst>
            </a:custGeom>
            <a:solidFill>
              <a:srgbClr val="4F46E5"/>
            </a:solidFill>
            <a:ln w="25400" cap="sq">
              <a:solidFill>
                <a:srgbClr val="4F46E5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640080"/>
            <a:ext cx="9144000" cy="548640"/>
            <a:chOff x="0" y="0"/>
            <a:chExt cx="12192000" cy="7315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192000" cy="731520"/>
            </a:xfrm>
            <a:custGeom>
              <a:avLst/>
              <a:gdLst/>
              <a:ahLst/>
              <a:cxnLst/>
              <a:rect r="r" b="b" t="t" l="l"/>
              <a:pathLst>
                <a:path h="73152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121920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 spc="400">
                  <a:solidFill>
                    <a:srgbClr val="4F46E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HOW EDUGENIE HELPS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1280160"/>
            <a:ext cx="16459200" cy="914400"/>
            <a:chOff x="0" y="0"/>
            <a:chExt cx="21945600" cy="1219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1945600" cy="1238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E1B4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Making Learning Simple &amp; Effective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01703" y="2547623"/>
            <a:ext cx="8072123" cy="3134363"/>
            <a:chOff x="0" y="0"/>
            <a:chExt cx="10762831" cy="417915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762869" cy="4179189"/>
            </a:xfrm>
            <a:custGeom>
              <a:avLst/>
              <a:gdLst/>
              <a:ahLst/>
              <a:cxnLst/>
              <a:rect r="r" b="b" t="t" l="l"/>
              <a:pathLst>
                <a:path h="4179189" w="10762869">
                  <a:moveTo>
                    <a:pt x="0" y="245872"/>
                  </a:moveTo>
                  <a:cubicBezTo>
                    <a:pt x="0" y="110109"/>
                    <a:pt x="110109" y="0"/>
                    <a:pt x="245872" y="0"/>
                  </a:cubicBezTo>
                  <a:lnTo>
                    <a:pt x="10516997" y="0"/>
                  </a:lnTo>
                  <a:cubicBezTo>
                    <a:pt x="10652760" y="0"/>
                    <a:pt x="10762869" y="110109"/>
                    <a:pt x="10762869" y="245872"/>
                  </a:cubicBezTo>
                  <a:lnTo>
                    <a:pt x="10762869" y="3933317"/>
                  </a:lnTo>
                  <a:cubicBezTo>
                    <a:pt x="10762869" y="4069080"/>
                    <a:pt x="10652760" y="4179189"/>
                    <a:pt x="10516997" y="4179189"/>
                  </a:cubicBezTo>
                  <a:lnTo>
                    <a:pt x="245872" y="4179189"/>
                  </a:lnTo>
                  <a:cubicBezTo>
                    <a:pt x="110109" y="4179189"/>
                    <a:pt x="0" y="4069080"/>
                    <a:pt x="0" y="3933317"/>
                  </a:cubicBezTo>
                  <a:close/>
                </a:path>
              </a:pathLst>
            </a:custGeom>
            <a:solidFill>
              <a:srgbClr val="F8FAFC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358903" y="3187703"/>
            <a:ext cx="1031243" cy="1031243"/>
            <a:chOff x="0" y="0"/>
            <a:chExt cx="1374991" cy="137499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7490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cubicBezTo>
                    <a:pt x="1067054" y="0"/>
                    <a:pt x="1374902" y="307848"/>
                    <a:pt x="1374902" y="687451"/>
                  </a:cubicBezTo>
                  <a:cubicBezTo>
                    <a:pt x="1374902" y="1067054"/>
                    <a:pt x="1067054" y="1374902"/>
                    <a:pt x="687451" y="1374902"/>
                  </a:cubicBezTo>
                  <a:cubicBezTo>
                    <a:pt x="307848" y="1374902"/>
                    <a:pt x="0" y="1067181"/>
                    <a:pt x="0" y="687451"/>
                  </a:cubicBezTo>
                  <a:close/>
                </a:path>
              </a:pathLst>
            </a:custGeom>
            <a:solidFill>
              <a:srgbClr val="E0E7FF"/>
            </a:solidFill>
            <a:ln w="25400" cap="sq">
              <a:solidFill>
                <a:srgbClr val="E0E7FF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554480" y="3383280"/>
            <a:ext cx="640080" cy="640080"/>
            <a:chOff x="0" y="0"/>
            <a:chExt cx="853440" cy="853440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2743200" y="3108960"/>
            <a:ext cx="5669280" cy="731520"/>
            <a:chOff x="0" y="0"/>
            <a:chExt cx="7559040" cy="9753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559040" cy="975360"/>
            </a:xfrm>
            <a:custGeom>
              <a:avLst/>
              <a:gdLst/>
              <a:ahLst/>
              <a:cxnLst/>
              <a:rect r="r" b="b" t="t" l="l"/>
              <a:pathLst>
                <a:path h="97536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009" r="0" b="-101009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7559040" cy="10039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1E1B4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Doubt Clearing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743200" y="3931920"/>
            <a:ext cx="5760720" cy="1371600"/>
            <a:chOff x="0" y="0"/>
            <a:chExt cx="7680960" cy="1828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6809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837" r="0" b="-31837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7680960" cy="1847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Ask any question in your own words. EduGenie explains with simple language, examples and step-by-step solutions.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497063" y="2547623"/>
            <a:ext cx="8072123" cy="3134363"/>
            <a:chOff x="0" y="0"/>
            <a:chExt cx="10762831" cy="417915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762869" cy="4179189"/>
            </a:xfrm>
            <a:custGeom>
              <a:avLst/>
              <a:gdLst/>
              <a:ahLst/>
              <a:cxnLst/>
              <a:rect r="r" b="b" t="t" l="l"/>
              <a:pathLst>
                <a:path h="4179189" w="10762869">
                  <a:moveTo>
                    <a:pt x="0" y="245872"/>
                  </a:moveTo>
                  <a:cubicBezTo>
                    <a:pt x="0" y="110109"/>
                    <a:pt x="110109" y="0"/>
                    <a:pt x="245872" y="0"/>
                  </a:cubicBezTo>
                  <a:lnTo>
                    <a:pt x="10516997" y="0"/>
                  </a:lnTo>
                  <a:cubicBezTo>
                    <a:pt x="10652760" y="0"/>
                    <a:pt x="10762869" y="110109"/>
                    <a:pt x="10762869" y="245872"/>
                  </a:cubicBezTo>
                  <a:lnTo>
                    <a:pt x="10762869" y="3933317"/>
                  </a:lnTo>
                  <a:cubicBezTo>
                    <a:pt x="10762869" y="4069080"/>
                    <a:pt x="10652760" y="4179189"/>
                    <a:pt x="10516997" y="4179189"/>
                  </a:cubicBezTo>
                  <a:lnTo>
                    <a:pt x="245872" y="4179189"/>
                  </a:lnTo>
                  <a:cubicBezTo>
                    <a:pt x="110109" y="4179189"/>
                    <a:pt x="0" y="4069080"/>
                    <a:pt x="0" y="3933317"/>
                  </a:cubicBezTo>
                  <a:close/>
                </a:path>
              </a:pathLst>
            </a:custGeom>
            <a:solidFill>
              <a:srgbClr val="F8FAFC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9954263" y="3187703"/>
            <a:ext cx="1031243" cy="1031243"/>
            <a:chOff x="0" y="0"/>
            <a:chExt cx="1374991" cy="137499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37490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cubicBezTo>
                    <a:pt x="1067054" y="0"/>
                    <a:pt x="1374902" y="307848"/>
                    <a:pt x="1374902" y="687451"/>
                  </a:cubicBezTo>
                  <a:cubicBezTo>
                    <a:pt x="1374902" y="1067054"/>
                    <a:pt x="1067054" y="1374902"/>
                    <a:pt x="687451" y="1374902"/>
                  </a:cubicBezTo>
                  <a:cubicBezTo>
                    <a:pt x="307848" y="1374902"/>
                    <a:pt x="0" y="1067181"/>
                    <a:pt x="0" y="687451"/>
                  </a:cubicBezTo>
                  <a:close/>
                </a:path>
              </a:pathLst>
            </a:custGeom>
            <a:solidFill>
              <a:srgbClr val="E0E7FF"/>
            </a:solidFill>
            <a:ln w="25400" cap="sq">
              <a:solidFill>
                <a:srgbClr val="E0E7FF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0149840" y="3383280"/>
            <a:ext cx="640080" cy="640080"/>
            <a:chOff x="0" y="0"/>
            <a:chExt cx="853440" cy="853440"/>
          </a:xfrm>
        </p:grpSpPr>
        <p:sp>
          <p:nvSpPr>
            <p:cNvPr name="Freeform 27" id="27" descr="preencoded.png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1338560" y="3108960"/>
            <a:ext cx="5669280" cy="731520"/>
            <a:chOff x="0" y="0"/>
            <a:chExt cx="7559040" cy="9753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559040" cy="975360"/>
            </a:xfrm>
            <a:custGeom>
              <a:avLst/>
              <a:gdLst/>
              <a:ahLst/>
              <a:cxnLst/>
              <a:rect r="r" b="b" t="t" l="l"/>
              <a:pathLst>
                <a:path h="97536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009" r="0" b="-101009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7559040" cy="10039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1E1B4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Concept Explanation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1338560" y="3931920"/>
            <a:ext cx="5760720" cy="1371600"/>
            <a:chOff x="0" y="0"/>
            <a:chExt cx="7680960" cy="1828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6809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837" r="0" b="-31837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7680960" cy="1847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Get topics broken down clearly — definitions, real-life examples, diagrams in words, and key takeaways.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01703" y="6022343"/>
            <a:ext cx="8072123" cy="3134363"/>
            <a:chOff x="0" y="0"/>
            <a:chExt cx="10762831" cy="417915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762869" cy="4179189"/>
            </a:xfrm>
            <a:custGeom>
              <a:avLst/>
              <a:gdLst/>
              <a:ahLst/>
              <a:cxnLst/>
              <a:rect r="r" b="b" t="t" l="l"/>
              <a:pathLst>
                <a:path h="4179189" w="10762869">
                  <a:moveTo>
                    <a:pt x="0" y="245872"/>
                  </a:moveTo>
                  <a:cubicBezTo>
                    <a:pt x="0" y="110109"/>
                    <a:pt x="110109" y="0"/>
                    <a:pt x="245872" y="0"/>
                  </a:cubicBezTo>
                  <a:lnTo>
                    <a:pt x="10516997" y="0"/>
                  </a:lnTo>
                  <a:cubicBezTo>
                    <a:pt x="10652760" y="0"/>
                    <a:pt x="10762869" y="110109"/>
                    <a:pt x="10762869" y="245872"/>
                  </a:cubicBezTo>
                  <a:lnTo>
                    <a:pt x="10762869" y="3933317"/>
                  </a:lnTo>
                  <a:cubicBezTo>
                    <a:pt x="10762869" y="4069080"/>
                    <a:pt x="10652760" y="4179189"/>
                    <a:pt x="10516997" y="4179189"/>
                  </a:cubicBezTo>
                  <a:lnTo>
                    <a:pt x="245872" y="4179189"/>
                  </a:lnTo>
                  <a:cubicBezTo>
                    <a:pt x="110109" y="4179189"/>
                    <a:pt x="0" y="4069080"/>
                    <a:pt x="0" y="3933317"/>
                  </a:cubicBezTo>
                  <a:close/>
                </a:path>
              </a:pathLst>
            </a:custGeom>
            <a:solidFill>
              <a:srgbClr val="F8FAFC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358903" y="6662423"/>
            <a:ext cx="1031243" cy="1031243"/>
            <a:chOff x="0" y="0"/>
            <a:chExt cx="1374991" cy="137499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37490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cubicBezTo>
                    <a:pt x="1067054" y="0"/>
                    <a:pt x="1374902" y="307848"/>
                    <a:pt x="1374902" y="687451"/>
                  </a:cubicBezTo>
                  <a:cubicBezTo>
                    <a:pt x="1374902" y="1067054"/>
                    <a:pt x="1067054" y="1374902"/>
                    <a:pt x="687451" y="1374902"/>
                  </a:cubicBezTo>
                  <a:cubicBezTo>
                    <a:pt x="307848" y="1374902"/>
                    <a:pt x="0" y="1067181"/>
                    <a:pt x="0" y="687451"/>
                  </a:cubicBezTo>
                  <a:close/>
                </a:path>
              </a:pathLst>
            </a:custGeom>
            <a:solidFill>
              <a:srgbClr val="E0E7FF"/>
            </a:solidFill>
            <a:ln w="25400" cap="sq">
              <a:solidFill>
                <a:srgbClr val="E0E7FF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554480" y="6858000"/>
            <a:ext cx="640080" cy="640080"/>
            <a:chOff x="0" y="0"/>
            <a:chExt cx="853440" cy="853440"/>
          </a:xfrm>
        </p:grpSpPr>
        <p:sp>
          <p:nvSpPr>
            <p:cNvPr name="Freeform 39" id="39" descr="preencoded.png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2743200" y="6583680"/>
            <a:ext cx="5669280" cy="731520"/>
            <a:chOff x="0" y="0"/>
            <a:chExt cx="7559040" cy="97536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559040" cy="975360"/>
            </a:xfrm>
            <a:custGeom>
              <a:avLst/>
              <a:gdLst/>
              <a:ahLst/>
              <a:cxnLst/>
              <a:rect r="r" b="b" t="t" l="l"/>
              <a:pathLst>
                <a:path h="97536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009" r="0" b="-101009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28575"/>
              <a:ext cx="7559040" cy="10039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1E1B4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Practice &amp; Quizzes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2743200" y="7406640"/>
            <a:ext cx="5760720" cy="1371600"/>
            <a:chOff x="0" y="0"/>
            <a:chExt cx="7680960" cy="18288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6809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837" r="0" b="-31837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19050"/>
              <a:ext cx="7680960" cy="1847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Take adaptive quizzes that match your level. Instant feedback shows what you got right and what to improve.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497063" y="6022343"/>
            <a:ext cx="8072123" cy="3134363"/>
            <a:chOff x="0" y="0"/>
            <a:chExt cx="10762831" cy="4179151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762869" cy="4179189"/>
            </a:xfrm>
            <a:custGeom>
              <a:avLst/>
              <a:gdLst/>
              <a:ahLst/>
              <a:cxnLst/>
              <a:rect r="r" b="b" t="t" l="l"/>
              <a:pathLst>
                <a:path h="4179189" w="10762869">
                  <a:moveTo>
                    <a:pt x="0" y="245872"/>
                  </a:moveTo>
                  <a:cubicBezTo>
                    <a:pt x="0" y="110109"/>
                    <a:pt x="110109" y="0"/>
                    <a:pt x="245872" y="0"/>
                  </a:cubicBezTo>
                  <a:lnTo>
                    <a:pt x="10516997" y="0"/>
                  </a:lnTo>
                  <a:cubicBezTo>
                    <a:pt x="10652760" y="0"/>
                    <a:pt x="10762869" y="110109"/>
                    <a:pt x="10762869" y="245872"/>
                  </a:cubicBezTo>
                  <a:lnTo>
                    <a:pt x="10762869" y="3933317"/>
                  </a:lnTo>
                  <a:cubicBezTo>
                    <a:pt x="10762869" y="4069080"/>
                    <a:pt x="10652760" y="4179189"/>
                    <a:pt x="10516997" y="4179189"/>
                  </a:cubicBezTo>
                  <a:lnTo>
                    <a:pt x="245872" y="4179189"/>
                  </a:lnTo>
                  <a:cubicBezTo>
                    <a:pt x="110109" y="4179189"/>
                    <a:pt x="0" y="4069080"/>
                    <a:pt x="0" y="3933317"/>
                  </a:cubicBezTo>
                  <a:close/>
                </a:path>
              </a:pathLst>
            </a:custGeom>
            <a:solidFill>
              <a:srgbClr val="F8FAFC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9954263" y="6662423"/>
            <a:ext cx="1031243" cy="1031243"/>
            <a:chOff x="0" y="0"/>
            <a:chExt cx="1374991" cy="1374991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37490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cubicBezTo>
                    <a:pt x="1067054" y="0"/>
                    <a:pt x="1374902" y="307848"/>
                    <a:pt x="1374902" y="687451"/>
                  </a:cubicBezTo>
                  <a:cubicBezTo>
                    <a:pt x="1374902" y="1067054"/>
                    <a:pt x="1067054" y="1374902"/>
                    <a:pt x="687451" y="1374902"/>
                  </a:cubicBezTo>
                  <a:cubicBezTo>
                    <a:pt x="307848" y="1374902"/>
                    <a:pt x="0" y="1067181"/>
                    <a:pt x="0" y="687451"/>
                  </a:cubicBezTo>
                  <a:close/>
                </a:path>
              </a:pathLst>
            </a:custGeom>
            <a:solidFill>
              <a:srgbClr val="E0E7FF"/>
            </a:solidFill>
            <a:ln w="25400" cap="sq">
              <a:solidFill>
                <a:srgbClr val="E0E7FF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10149840" y="6858000"/>
            <a:ext cx="640080" cy="640080"/>
            <a:chOff x="0" y="0"/>
            <a:chExt cx="853440" cy="853440"/>
          </a:xfrm>
        </p:grpSpPr>
        <p:sp>
          <p:nvSpPr>
            <p:cNvPr name="Freeform 51" id="51" descr="preencoded.png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1338560" y="6583680"/>
            <a:ext cx="5669280" cy="731520"/>
            <a:chOff x="0" y="0"/>
            <a:chExt cx="7559040" cy="97536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559040" cy="975360"/>
            </a:xfrm>
            <a:custGeom>
              <a:avLst/>
              <a:gdLst/>
              <a:ahLst/>
              <a:cxnLst/>
              <a:rect r="r" b="b" t="t" l="l"/>
              <a:pathLst>
                <a:path h="97536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009" r="0" b="-101009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28575"/>
              <a:ext cx="7559040" cy="10039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1E1B4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Study Tips &amp; Plans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1338560" y="7406640"/>
            <a:ext cx="5760720" cy="1371600"/>
            <a:chOff x="0" y="0"/>
            <a:chExt cx="7680960" cy="18288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76809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837" r="0" b="-31837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19050"/>
              <a:ext cx="7680960" cy="1847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Receive personalized study plans and tips based on your goals, weak areas and available time.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44859"/>
            <a:chOff x="0" y="0"/>
            <a:chExt cx="24417871" cy="3264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326517"/>
            </a:xfrm>
            <a:custGeom>
              <a:avLst/>
              <a:gdLst/>
              <a:ahLst/>
              <a:cxnLst/>
              <a:rect r="r" b="b" t="t" l="l"/>
              <a:pathLst>
                <a:path h="326517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326517"/>
                  </a:lnTo>
                  <a:lnTo>
                    <a:pt x="0" y="326517"/>
                  </a:lnTo>
                  <a:close/>
                </a:path>
              </a:pathLst>
            </a:custGeom>
            <a:solidFill>
              <a:srgbClr val="4F46E5"/>
            </a:solidFill>
            <a:ln w="25400" cap="sq">
              <a:solidFill>
                <a:srgbClr val="4F46E5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640080"/>
            <a:ext cx="7315200" cy="548640"/>
            <a:chOff x="0" y="0"/>
            <a:chExt cx="9753600" cy="7315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753600" cy="731520"/>
            </a:xfrm>
            <a:custGeom>
              <a:avLst/>
              <a:gdLst/>
              <a:ahLst/>
              <a:cxnLst/>
              <a:rect r="r" b="b" t="t" l="l"/>
              <a:pathLst>
                <a:path h="73152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97536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 spc="400">
                  <a:solidFill>
                    <a:srgbClr val="4F46E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KEY FEATURES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1280160"/>
            <a:ext cx="16459200" cy="914400"/>
            <a:chOff x="0" y="0"/>
            <a:chExt cx="21945600" cy="1219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1945600" cy="1238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E1B4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What Makes EduGenie Powerful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01703" y="2547623"/>
            <a:ext cx="1031243" cy="1031243"/>
            <a:chOff x="0" y="0"/>
            <a:chExt cx="1374991" cy="137499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7490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cubicBezTo>
                    <a:pt x="1067054" y="0"/>
                    <a:pt x="1374902" y="307848"/>
                    <a:pt x="1374902" y="687451"/>
                  </a:cubicBezTo>
                  <a:cubicBezTo>
                    <a:pt x="1374902" y="1067054"/>
                    <a:pt x="1067054" y="1374902"/>
                    <a:pt x="687451" y="1374902"/>
                  </a:cubicBezTo>
                  <a:cubicBezTo>
                    <a:pt x="307848" y="1374902"/>
                    <a:pt x="0" y="1067181"/>
                    <a:pt x="0" y="687451"/>
                  </a:cubicBezTo>
                  <a:close/>
                </a:path>
              </a:pathLst>
            </a:custGeom>
            <a:solidFill>
              <a:srgbClr val="E0E7FF"/>
            </a:solidFill>
            <a:ln w="25400" cap="sq">
              <a:solidFill>
                <a:srgbClr val="E0E7FF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097280" y="2743200"/>
            <a:ext cx="640080" cy="640080"/>
            <a:chOff x="0" y="0"/>
            <a:chExt cx="853440" cy="853440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286000" y="2560320"/>
            <a:ext cx="8229600" cy="548640"/>
            <a:chOff x="0" y="0"/>
            <a:chExt cx="10972800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109728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1E1B4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Google Gemini AI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286000" y="3200400"/>
            <a:ext cx="8229600" cy="822960"/>
            <a:chOff x="0" y="0"/>
            <a:chExt cx="10972800" cy="10972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9728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109728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Powered by one of the world's most advanced language models for accurate, natural answers.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01703" y="4284983"/>
            <a:ext cx="1031243" cy="1031243"/>
            <a:chOff x="0" y="0"/>
            <a:chExt cx="1374991" cy="137499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7490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cubicBezTo>
                    <a:pt x="1067054" y="0"/>
                    <a:pt x="1374902" y="307848"/>
                    <a:pt x="1374902" y="687451"/>
                  </a:cubicBezTo>
                  <a:cubicBezTo>
                    <a:pt x="1374902" y="1067054"/>
                    <a:pt x="1067054" y="1374902"/>
                    <a:pt x="687451" y="1374902"/>
                  </a:cubicBezTo>
                  <a:cubicBezTo>
                    <a:pt x="307848" y="1374902"/>
                    <a:pt x="0" y="1067181"/>
                    <a:pt x="0" y="687451"/>
                  </a:cubicBezTo>
                  <a:close/>
                </a:path>
              </a:pathLst>
            </a:custGeom>
            <a:solidFill>
              <a:srgbClr val="E0E7FF"/>
            </a:solidFill>
            <a:ln w="25400" cap="sq">
              <a:solidFill>
                <a:srgbClr val="E0E7FF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097280" y="4480560"/>
            <a:ext cx="640080" cy="640080"/>
            <a:chOff x="0" y="0"/>
            <a:chExt cx="853440" cy="853440"/>
          </a:xfrm>
        </p:grpSpPr>
        <p:sp>
          <p:nvSpPr>
            <p:cNvPr name="Freeform 23" id="23" descr="preencoded.png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2286000" y="4297680"/>
            <a:ext cx="8229600" cy="548640"/>
            <a:chOff x="0" y="0"/>
            <a:chExt cx="10972800" cy="7315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109728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1E1B4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Conversational Learning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2286000" y="4937760"/>
            <a:ext cx="8229600" cy="822960"/>
            <a:chOff x="0" y="0"/>
            <a:chExt cx="10972800" cy="109728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728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109728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Chat like a tutor — ask follow-ups, request simpler explanations or more examples.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01703" y="6022343"/>
            <a:ext cx="1031243" cy="1031243"/>
            <a:chOff x="0" y="0"/>
            <a:chExt cx="1374991" cy="137499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37490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cubicBezTo>
                    <a:pt x="1067054" y="0"/>
                    <a:pt x="1374902" y="307848"/>
                    <a:pt x="1374902" y="687451"/>
                  </a:cubicBezTo>
                  <a:cubicBezTo>
                    <a:pt x="1374902" y="1067054"/>
                    <a:pt x="1067054" y="1374902"/>
                    <a:pt x="687451" y="1374902"/>
                  </a:cubicBezTo>
                  <a:cubicBezTo>
                    <a:pt x="307848" y="1374902"/>
                    <a:pt x="0" y="1067181"/>
                    <a:pt x="0" y="687451"/>
                  </a:cubicBezTo>
                  <a:close/>
                </a:path>
              </a:pathLst>
            </a:custGeom>
            <a:solidFill>
              <a:srgbClr val="E0E7FF"/>
            </a:solidFill>
            <a:ln w="25400" cap="sq">
              <a:solidFill>
                <a:srgbClr val="E0E7FF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097280" y="6217920"/>
            <a:ext cx="640080" cy="640080"/>
            <a:chOff x="0" y="0"/>
            <a:chExt cx="853440" cy="853440"/>
          </a:xfrm>
        </p:grpSpPr>
        <p:sp>
          <p:nvSpPr>
            <p:cNvPr name="Freeform 33" id="33" descr="preencoded.png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2286000" y="6035040"/>
            <a:ext cx="8229600" cy="548640"/>
            <a:chOff x="0" y="0"/>
            <a:chExt cx="10972800" cy="7315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109728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1E1B4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Multi-Language Support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2286000" y="6675120"/>
            <a:ext cx="8229600" cy="822960"/>
            <a:chOff x="0" y="0"/>
            <a:chExt cx="10972800" cy="10972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9728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109728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Learn and ask questions in the language you are most comfortable with.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01703" y="7759703"/>
            <a:ext cx="1031243" cy="1031243"/>
            <a:chOff x="0" y="0"/>
            <a:chExt cx="1374991" cy="137499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37490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cubicBezTo>
                    <a:pt x="1067054" y="0"/>
                    <a:pt x="1374902" y="307848"/>
                    <a:pt x="1374902" y="687451"/>
                  </a:cubicBezTo>
                  <a:cubicBezTo>
                    <a:pt x="1374902" y="1067054"/>
                    <a:pt x="1067054" y="1374902"/>
                    <a:pt x="687451" y="1374902"/>
                  </a:cubicBezTo>
                  <a:cubicBezTo>
                    <a:pt x="307848" y="1374902"/>
                    <a:pt x="0" y="1067181"/>
                    <a:pt x="0" y="687451"/>
                  </a:cubicBezTo>
                  <a:close/>
                </a:path>
              </a:pathLst>
            </a:custGeom>
            <a:solidFill>
              <a:srgbClr val="E0E7FF"/>
            </a:solidFill>
            <a:ln w="25400" cap="sq">
              <a:solidFill>
                <a:srgbClr val="E0E7FF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097280" y="7955280"/>
            <a:ext cx="640080" cy="640080"/>
            <a:chOff x="0" y="0"/>
            <a:chExt cx="853440" cy="853440"/>
          </a:xfrm>
        </p:grpSpPr>
        <p:sp>
          <p:nvSpPr>
            <p:cNvPr name="Freeform 43" id="43" descr="preencoded.png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2286000" y="7772400"/>
            <a:ext cx="8229600" cy="548640"/>
            <a:chOff x="0" y="0"/>
            <a:chExt cx="10972800" cy="7315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109728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b="true">
                  <a:solidFill>
                    <a:srgbClr val="1E1B4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Progress Tracking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2286000" y="8412480"/>
            <a:ext cx="8229600" cy="822960"/>
            <a:chOff x="0" y="0"/>
            <a:chExt cx="10972800" cy="10972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9728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9050"/>
              <a:ext cx="109728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See your strengths, weak topics and improvement over time with clear insights.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1325863" y="2547623"/>
            <a:ext cx="6060443" cy="6791963"/>
            <a:chOff x="0" y="0"/>
            <a:chExt cx="8080591" cy="905595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080628" cy="9055989"/>
            </a:xfrm>
            <a:custGeom>
              <a:avLst/>
              <a:gdLst/>
              <a:ahLst/>
              <a:cxnLst/>
              <a:rect r="r" b="b" t="t" l="l"/>
              <a:pathLst>
                <a:path h="9055989" w="8080628">
                  <a:moveTo>
                    <a:pt x="0" y="367284"/>
                  </a:moveTo>
                  <a:cubicBezTo>
                    <a:pt x="0" y="164465"/>
                    <a:pt x="164465" y="0"/>
                    <a:pt x="367284" y="0"/>
                  </a:cubicBezTo>
                  <a:lnTo>
                    <a:pt x="7713345" y="0"/>
                  </a:lnTo>
                  <a:cubicBezTo>
                    <a:pt x="7916163" y="0"/>
                    <a:pt x="8080628" y="164465"/>
                    <a:pt x="8080628" y="367284"/>
                  </a:cubicBezTo>
                  <a:lnTo>
                    <a:pt x="8080628" y="8688705"/>
                  </a:lnTo>
                  <a:cubicBezTo>
                    <a:pt x="8080628" y="8891524"/>
                    <a:pt x="7916163" y="9055989"/>
                    <a:pt x="7713345" y="9055989"/>
                  </a:cubicBezTo>
                  <a:lnTo>
                    <a:pt x="367284" y="9055989"/>
                  </a:lnTo>
                  <a:cubicBezTo>
                    <a:pt x="164465" y="9055989"/>
                    <a:pt x="0" y="8891524"/>
                    <a:pt x="0" y="8688705"/>
                  </a:cubicBezTo>
                  <a:close/>
                </a:path>
              </a:pathLst>
            </a:custGeom>
            <a:solidFill>
              <a:srgbClr val="4F46E5"/>
            </a:solidFill>
            <a:ln w="25400" cap="sq">
              <a:solidFill>
                <a:srgbClr val="4F46E5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13258800" y="3474720"/>
            <a:ext cx="2194560" cy="2194560"/>
            <a:chOff x="0" y="0"/>
            <a:chExt cx="2926080" cy="2926080"/>
          </a:xfrm>
        </p:grpSpPr>
        <p:sp>
          <p:nvSpPr>
            <p:cNvPr name="Freeform 53" id="53" descr="preencoded.png"/>
            <p:cNvSpPr/>
            <p:nvPr/>
          </p:nvSpPr>
          <p:spPr>
            <a:xfrm flipH="false" flipV="false" rot="0">
              <a:off x="0" y="0"/>
              <a:ext cx="29260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2926080"/>
                  </a:lnTo>
                  <a:lnTo>
                    <a:pt x="0" y="2926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1795760" y="6035040"/>
            <a:ext cx="5120640" cy="1554480"/>
            <a:chOff x="0" y="0"/>
            <a:chExt cx="6827520" cy="207264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6827520" cy="2072640"/>
            </a:xfrm>
            <a:custGeom>
              <a:avLst/>
              <a:gdLst/>
              <a:ahLst/>
              <a:cxnLst/>
              <a:rect r="r" b="b" t="t" l="l"/>
              <a:pathLst>
                <a:path h="207264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86" r="0" b="-14186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28575"/>
              <a:ext cx="6827520" cy="2101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Learn Smarter</a:t>
              </a:r>
            </a:p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Not Harder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1795760" y="7772400"/>
            <a:ext cx="5120640" cy="1005840"/>
            <a:chOff x="0" y="0"/>
            <a:chExt cx="6827520" cy="134112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8275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196" r="0" b="-49196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9525"/>
              <a:ext cx="6827520" cy="13506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C7D2FE"/>
                  </a:solidFill>
                  <a:latin typeface="Arial"/>
                  <a:ea typeface="Arial"/>
                  <a:cs typeface="Arial"/>
                  <a:sym typeface="Arial"/>
                </a:rPr>
                <a:t>AI that explains, quizzes</a:t>
              </a:r>
            </a:p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C7D2FE"/>
                  </a:solidFill>
                  <a:latin typeface="Arial"/>
                  <a:ea typeface="Arial"/>
                  <a:cs typeface="Arial"/>
                  <a:sym typeface="Arial"/>
                </a:rPr>
                <a:t>and guides you every step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44859"/>
            <a:chOff x="0" y="0"/>
            <a:chExt cx="24417871" cy="3264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326517"/>
            </a:xfrm>
            <a:custGeom>
              <a:avLst/>
              <a:gdLst/>
              <a:ahLst/>
              <a:cxnLst/>
              <a:rect r="r" b="b" t="t" l="l"/>
              <a:pathLst>
                <a:path h="326517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326517"/>
                  </a:lnTo>
                  <a:lnTo>
                    <a:pt x="0" y="326517"/>
                  </a:lnTo>
                  <a:close/>
                </a:path>
              </a:pathLst>
            </a:custGeom>
            <a:solidFill>
              <a:srgbClr val="4F46E5"/>
            </a:solidFill>
            <a:ln w="25400" cap="sq">
              <a:solidFill>
                <a:srgbClr val="4F46E5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640080"/>
            <a:ext cx="7315200" cy="548640"/>
            <a:chOff x="0" y="0"/>
            <a:chExt cx="9753600" cy="7315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753600" cy="731520"/>
            </a:xfrm>
            <a:custGeom>
              <a:avLst/>
              <a:gdLst/>
              <a:ahLst/>
              <a:cxnLst/>
              <a:rect r="r" b="b" t="t" l="l"/>
              <a:pathLst>
                <a:path h="73152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97536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 spc="400">
                  <a:solidFill>
                    <a:srgbClr val="4F46E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BENEFITS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1280160"/>
            <a:ext cx="16459200" cy="914400"/>
            <a:chOff x="0" y="0"/>
            <a:chExt cx="21945600" cy="1219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1945600" cy="1238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E1B4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Why Students Choose EduGenie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18823" y="2639063"/>
            <a:ext cx="5511803" cy="3134363"/>
            <a:chOff x="0" y="0"/>
            <a:chExt cx="7349071" cy="417915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349109" cy="4179189"/>
            </a:xfrm>
            <a:custGeom>
              <a:avLst/>
              <a:gdLst/>
              <a:ahLst/>
              <a:cxnLst/>
              <a:rect r="r" b="b" t="t" l="l"/>
              <a:pathLst>
                <a:path h="4179189" w="7349109">
                  <a:moveTo>
                    <a:pt x="0" y="245872"/>
                  </a:moveTo>
                  <a:cubicBezTo>
                    <a:pt x="0" y="110109"/>
                    <a:pt x="110109" y="0"/>
                    <a:pt x="245872" y="0"/>
                  </a:cubicBezTo>
                  <a:lnTo>
                    <a:pt x="7103237" y="0"/>
                  </a:lnTo>
                  <a:cubicBezTo>
                    <a:pt x="7239000" y="0"/>
                    <a:pt x="7349109" y="110109"/>
                    <a:pt x="7349109" y="245872"/>
                  </a:cubicBezTo>
                  <a:lnTo>
                    <a:pt x="7349109" y="3933317"/>
                  </a:lnTo>
                  <a:cubicBezTo>
                    <a:pt x="7349109" y="4069080"/>
                    <a:pt x="7239000" y="4179189"/>
                    <a:pt x="7103237" y="4179189"/>
                  </a:cubicBezTo>
                  <a:lnTo>
                    <a:pt x="245872" y="4179189"/>
                  </a:lnTo>
                  <a:cubicBezTo>
                    <a:pt x="110109" y="4179189"/>
                    <a:pt x="0" y="4069080"/>
                    <a:pt x="0" y="3933317"/>
                  </a:cubicBezTo>
                  <a:close/>
                </a:path>
              </a:pathLst>
            </a:custGeom>
            <a:solidFill>
              <a:srgbClr val="F8FAFC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084583" y="3096263"/>
            <a:ext cx="939803" cy="939803"/>
            <a:chOff x="0" y="0"/>
            <a:chExt cx="1253071" cy="125307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53109" cy="1253109"/>
            </a:xfrm>
            <a:custGeom>
              <a:avLst/>
              <a:gdLst/>
              <a:ahLst/>
              <a:cxnLst/>
              <a:rect r="r" b="b" t="t" l="l"/>
              <a:pathLst>
                <a:path h="1253109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cubicBezTo>
                    <a:pt x="972439" y="0"/>
                    <a:pt x="1253109" y="280543"/>
                    <a:pt x="1253109" y="626491"/>
                  </a:cubicBezTo>
                  <a:cubicBezTo>
                    <a:pt x="1253109" y="972439"/>
                    <a:pt x="972566" y="1253109"/>
                    <a:pt x="626491" y="1253109"/>
                  </a:cubicBezTo>
                  <a:cubicBezTo>
                    <a:pt x="280416" y="1253109"/>
                    <a:pt x="0" y="972566"/>
                    <a:pt x="0" y="626491"/>
                  </a:cubicBezTo>
                  <a:close/>
                </a:path>
              </a:pathLst>
            </a:custGeom>
            <a:solidFill>
              <a:srgbClr val="E0E7FF"/>
            </a:solidFill>
            <a:ln w="25400" cap="sq">
              <a:solidFill>
                <a:srgbClr val="E0E7FF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243584" y="3255264"/>
            <a:ext cx="640080" cy="640080"/>
            <a:chOff x="0" y="0"/>
            <a:chExt cx="853440" cy="853440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2286000" y="3200400"/>
            <a:ext cx="3566160" cy="731520"/>
            <a:chOff x="0" y="0"/>
            <a:chExt cx="4754880" cy="9753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754880" cy="975360"/>
            </a:xfrm>
            <a:custGeom>
              <a:avLst/>
              <a:gdLst/>
              <a:ahLst/>
              <a:cxnLst/>
              <a:rect r="r" b="b" t="t" l="l"/>
              <a:pathLst>
                <a:path h="97536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989" r="0" b="-44989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4754880" cy="994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E1B4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Instant Help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97280" y="4297680"/>
            <a:ext cx="4754880" cy="1097280"/>
            <a:chOff x="0" y="0"/>
            <a:chExt cx="6339840" cy="14630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3398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435" r="0" b="-3443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633984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No waiting for a teacher — get answers and explanations in seconds.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479543" y="2639063"/>
            <a:ext cx="5511803" cy="3134363"/>
            <a:chOff x="0" y="0"/>
            <a:chExt cx="7349071" cy="417915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349109" cy="4179189"/>
            </a:xfrm>
            <a:custGeom>
              <a:avLst/>
              <a:gdLst/>
              <a:ahLst/>
              <a:cxnLst/>
              <a:rect r="r" b="b" t="t" l="l"/>
              <a:pathLst>
                <a:path h="4179189" w="7349109">
                  <a:moveTo>
                    <a:pt x="0" y="245872"/>
                  </a:moveTo>
                  <a:cubicBezTo>
                    <a:pt x="0" y="110109"/>
                    <a:pt x="110109" y="0"/>
                    <a:pt x="245872" y="0"/>
                  </a:cubicBezTo>
                  <a:lnTo>
                    <a:pt x="7103237" y="0"/>
                  </a:lnTo>
                  <a:cubicBezTo>
                    <a:pt x="7239000" y="0"/>
                    <a:pt x="7349109" y="110109"/>
                    <a:pt x="7349109" y="245872"/>
                  </a:cubicBezTo>
                  <a:lnTo>
                    <a:pt x="7349109" y="3933317"/>
                  </a:lnTo>
                  <a:cubicBezTo>
                    <a:pt x="7349109" y="4069080"/>
                    <a:pt x="7239000" y="4179189"/>
                    <a:pt x="7103237" y="4179189"/>
                  </a:cubicBezTo>
                  <a:lnTo>
                    <a:pt x="245872" y="4179189"/>
                  </a:lnTo>
                  <a:cubicBezTo>
                    <a:pt x="110109" y="4179189"/>
                    <a:pt x="0" y="4069080"/>
                    <a:pt x="0" y="3933317"/>
                  </a:cubicBezTo>
                  <a:close/>
                </a:path>
              </a:pathLst>
            </a:custGeom>
            <a:solidFill>
              <a:srgbClr val="F8FAFC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6845303" y="3096263"/>
            <a:ext cx="939803" cy="939803"/>
            <a:chOff x="0" y="0"/>
            <a:chExt cx="1253071" cy="125307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53109" cy="1253109"/>
            </a:xfrm>
            <a:custGeom>
              <a:avLst/>
              <a:gdLst/>
              <a:ahLst/>
              <a:cxnLst/>
              <a:rect r="r" b="b" t="t" l="l"/>
              <a:pathLst>
                <a:path h="1253109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cubicBezTo>
                    <a:pt x="972439" y="0"/>
                    <a:pt x="1253109" y="280543"/>
                    <a:pt x="1253109" y="626491"/>
                  </a:cubicBezTo>
                  <a:cubicBezTo>
                    <a:pt x="1253109" y="972439"/>
                    <a:pt x="972566" y="1253109"/>
                    <a:pt x="626491" y="1253109"/>
                  </a:cubicBezTo>
                  <a:cubicBezTo>
                    <a:pt x="280416" y="1253109"/>
                    <a:pt x="0" y="972566"/>
                    <a:pt x="0" y="626491"/>
                  </a:cubicBezTo>
                  <a:close/>
                </a:path>
              </a:pathLst>
            </a:custGeom>
            <a:solidFill>
              <a:srgbClr val="E0E7FF"/>
            </a:solidFill>
            <a:ln w="25400" cap="sq">
              <a:solidFill>
                <a:srgbClr val="E0E7FF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7004304" y="3255264"/>
            <a:ext cx="640080" cy="640080"/>
            <a:chOff x="0" y="0"/>
            <a:chExt cx="853440" cy="853440"/>
          </a:xfrm>
        </p:grpSpPr>
        <p:sp>
          <p:nvSpPr>
            <p:cNvPr name="Freeform 27" id="27" descr="preencoded.png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8046720" y="3200400"/>
            <a:ext cx="3566160" cy="731520"/>
            <a:chOff x="0" y="0"/>
            <a:chExt cx="4754880" cy="9753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754880" cy="975360"/>
            </a:xfrm>
            <a:custGeom>
              <a:avLst/>
              <a:gdLst/>
              <a:ahLst/>
              <a:cxnLst/>
              <a:rect r="r" b="b" t="t" l="l"/>
              <a:pathLst>
                <a:path h="97536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989" r="0" b="-44989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4754880" cy="994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E1B4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Clear Understanding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858000" y="4297680"/>
            <a:ext cx="4754880" cy="1097280"/>
            <a:chOff x="0" y="0"/>
            <a:chExt cx="6339840" cy="14630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3398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435" r="0" b="-34435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633984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Complex topics become easy with simple language and real examples.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2240263" y="2639063"/>
            <a:ext cx="5511803" cy="3134363"/>
            <a:chOff x="0" y="0"/>
            <a:chExt cx="7349071" cy="417915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349109" cy="4179189"/>
            </a:xfrm>
            <a:custGeom>
              <a:avLst/>
              <a:gdLst/>
              <a:ahLst/>
              <a:cxnLst/>
              <a:rect r="r" b="b" t="t" l="l"/>
              <a:pathLst>
                <a:path h="4179189" w="7349109">
                  <a:moveTo>
                    <a:pt x="0" y="245872"/>
                  </a:moveTo>
                  <a:cubicBezTo>
                    <a:pt x="0" y="110109"/>
                    <a:pt x="110109" y="0"/>
                    <a:pt x="245872" y="0"/>
                  </a:cubicBezTo>
                  <a:lnTo>
                    <a:pt x="7103237" y="0"/>
                  </a:lnTo>
                  <a:cubicBezTo>
                    <a:pt x="7239000" y="0"/>
                    <a:pt x="7349109" y="110109"/>
                    <a:pt x="7349109" y="245872"/>
                  </a:cubicBezTo>
                  <a:lnTo>
                    <a:pt x="7349109" y="3933317"/>
                  </a:lnTo>
                  <a:cubicBezTo>
                    <a:pt x="7349109" y="4069080"/>
                    <a:pt x="7239000" y="4179189"/>
                    <a:pt x="7103237" y="4179189"/>
                  </a:cubicBezTo>
                  <a:lnTo>
                    <a:pt x="245872" y="4179189"/>
                  </a:lnTo>
                  <a:cubicBezTo>
                    <a:pt x="110109" y="4179189"/>
                    <a:pt x="0" y="4069080"/>
                    <a:pt x="0" y="3933317"/>
                  </a:cubicBezTo>
                  <a:close/>
                </a:path>
              </a:pathLst>
            </a:custGeom>
            <a:solidFill>
              <a:srgbClr val="F8FAFC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2606023" y="3096263"/>
            <a:ext cx="939803" cy="939803"/>
            <a:chOff x="0" y="0"/>
            <a:chExt cx="1253071" cy="125307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253109" cy="1253109"/>
            </a:xfrm>
            <a:custGeom>
              <a:avLst/>
              <a:gdLst/>
              <a:ahLst/>
              <a:cxnLst/>
              <a:rect r="r" b="b" t="t" l="l"/>
              <a:pathLst>
                <a:path h="1253109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cubicBezTo>
                    <a:pt x="972439" y="0"/>
                    <a:pt x="1253109" y="280543"/>
                    <a:pt x="1253109" y="626491"/>
                  </a:cubicBezTo>
                  <a:cubicBezTo>
                    <a:pt x="1253109" y="972439"/>
                    <a:pt x="972566" y="1253109"/>
                    <a:pt x="626491" y="1253109"/>
                  </a:cubicBezTo>
                  <a:cubicBezTo>
                    <a:pt x="280416" y="1253109"/>
                    <a:pt x="0" y="972566"/>
                    <a:pt x="0" y="626491"/>
                  </a:cubicBezTo>
                  <a:close/>
                </a:path>
              </a:pathLst>
            </a:custGeom>
            <a:solidFill>
              <a:srgbClr val="E0E7FF"/>
            </a:solidFill>
            <a:ln w="25400" cap="sq">
              <a:solidFill>
                <a:srgbClr val="E0E7FF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2765024" y="3255264"/>
            <a:ext cx="640080" cy="640080"/>
            <a:chOff x="0" y="0"/>
            <a:chExt cx="853440" cy="853440"/>
          </a:xfrm>
        </p:grpSpPr>
        <p:sp>
          <p:nvSpPr>
            <p:cNvPr name="Freeform 39" id="39" descr="preencoded.png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3807440" y="3200400"/>
            <a:ext cx="3566160" cy="731520"/>
            <a:chOff x="0" y="0"/>
            <a:chExt cx="4754880" cy="97536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754880" cy="975360"/>
            </a:xfrm>
            <a:custGeom>
              <a:avLst/>
              <a:gdLst/>
              <a:ahLst/>
              <a:cxnLst/>
              <a:rect r="r" b="b" t="t" l="l"/>
              <a:pathLst>
                <a:path h="97536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989" r="0" b="-44989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4754880" cy="994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E1B4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Learn Anywhere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2618720" y="4297680"/>
            <a:ext cx="4754880" cy="1097280"/>
            <a:chOff x="0" y="0"/>
            <a:chExt cx="6339840" cy="14630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3398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435" r="0" b="-34435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633984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Study on phone or laptop — at home, in college or on the bus.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718823" y="6113783"/>
            <a:ext cx="5511803" cy="3134363"/>
            <a:chOff x="0" y="0"/>
            <a:chExt cx="7349071" cy="4179151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349109" cy="4179189"/>
            </a:xfrm>
            <a:custGeom>
              <a:avLst/>
              <a:gdLst/>
              <a:ahLst/>
              <a:cxnLst/>
              <a:rect r="r" b="b" t="t" l="l"/>
              <a:pathLst>
                <a:path h="4179189" w="7349109">
                  <a:moveTo>
                    <a:pt x="0" y="245872"/>
                  </a:moveTo>
                  <a:cubicBezTo>
                    <a:pt x="0" y="110109"/>
                    <a:pt x="110109" y="0"/>
                    <a:pt x="245872" y="0"/>
                  </a:cubicBezTo>
                  <a:lnTo>
                    <a:pt x="7103237" y="0"/>
                  </a:lnTo>
                  <a:cubicBezTo>
                    <a:pt x="7239000" y="0"/>
                    <a:pt x="7349109" y="110109"/>
                    <a:pt x="7349109" y="245872"/>
                  </a:cubicBezTo>
                  <a:lnTo>
                    <a:pt x="7349109" y="3933317"/>
                  </a:lnTo>
                  <a:cubicBezTo>
                    <a:pt x="7349109" y="4069080"/>
                    <a:pt x="7239000" y="4179189"/>
                    <a:pt x="7103237" y="4179189"/>
                  </a:cubicBezTo>
                  <a:lnTo>
                    <a:pt x="245872" y="4179189"/>
                  </a:lnTo>
                  <a:cubicBezTo>
                    <a:pt x="110109" y="4179189"/>
                    <a:pt x="0" y="4069080"/>
                    <a:pt x="0" y="3933317"/>
                  </a:cubicBezTo>
                  <a:close/>
                </a:path>
              </a:pathLst>
            </a:custGeom>
            <a:solidFill>
              <a:srgbClr val="F8FAFC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1084583" y="6570983"/>
            <a:ext cx="939803" cy="939803"/>
            <a:chOff x="0" y="0"/>
            <a:chExt cx="1253071" cy="1253071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253109" cy="1253109"/>
            </a:xfrm>
            <a:custGeom>
              <a:avLst/>
              <a:gdLst/>
              <a:ahLst/>
              <a:cxnLst/>
              <a:rect r="r" b="b" t="t" l="l"/>
              <a:pathLst>
                <a:path h="1253109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cubicBezTo>
                    <a:pt x="972439" y="0"/>
                    <a:pt x="1253109" y="280543"/>
                    <a:pt x="1253109" y="626491"/>
                  </a:cubicBezTo>
                  <a:cubicBezTo>
                    <a:pt x="1253109" y="972439"/>
                    <a:pt x="972566" y="1253109"/>
                    <a:pt x="626491" y="1253109"/>
                  </a:cubicBezTo>
                  <a:cubicBezTo>
                    <a:pt x="280416" y="1253109"/>
                    <a:pt x="0" y="972566"/>
                    <a:pt x="0" y="626491"/>
                  </a:cubicBezTo>
                  <a:close/>
                </a:path>
              </a:pathLst>
            </a:custGeom>
            <a:solidFill>
              <a:srgbClr val="E0E7FF"/>
            </a:solidFill>
            <a:ln w="25400" cap="sq">
              <a:solidFill>
                <a:srgbClr val="E0E7FF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1243584" y="6729984"/>
            <a:ext cx="640080" cy="640080"/>
            <a:chOff x="0" y="0"/>
            <a:chExt cx="853440" cy="853440"/>
          </a:xfrm>
        </p:grpSpPr>
        <p:sp>
          <p:nvSpPr>
            <p:cNvPr name="Freeform 51" id="51" descr="preencoded.png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2286000" y="6675120"/>
            <a:ext cx="3566160" cy="731520"/>
            <a:chOff x="0" y="0"/>
            <a:chExt cx="4754880" cy="97536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754880" cy="975360"/>
            </a:xfrm>
            <a:custGeom>
              <a:avLst/>
              <a:gdLst/>
              <a:ahLst/>
              <a:cxnLst/>
              <a:rect r="r" b="b" t="t" l="l"/>
              <a:pathLst>
                <a:path h="97536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989" r="0" b="-44989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19050"/>
              <a:ext cx="4754880" cy="994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E1B4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Safe &amp; Reliable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097280" y="7772400"/>
            <a:ext cx="4754880" cy="1097280"/>
            <a:chOff x="0" y="0"/>
            <a:chExt cx="6339840" cy="146304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63398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435" r="0" b="-34435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9525"/>
              <a:ext cx="633984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Age-appropriate, accurate responses powered by trusted Gemini AI.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6479543" y="6113783"/>
            <a:ext cx="5511803" cy="3134363"/>
            <a:chOff x="0" y="0"/>
            <a:chExt cx="7349071" cy="4179151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7349109" cy="4179189"/>
            </a:xfrm>
            <a:custGeom>
              <a:avLst/>
              <a:gdLst/>
              <a:ahLst/>
              <a:cxnLst/>
              <a:rect r="r" b="b" t="t" l="l"/>
              <a:pathLst>
                <a:path h="4179189" w="7349109">
                  <a:moveTo>
                    <a:pt x="0" y="245872"/>
                  </a:moveTo>
                  <a:cubicBezTo>
                    <a:pt x="0" y="110109"/>
                    <a:pt x="110109" y="0"/>
                    <a:pt x="245872" y="0"/>
                  </a:cubicBezTo>
                  <a:lnTo>
                    <a:pt x="7103237" y="0"/>
                  </a:lnTo>
                  <a:cubicBezTo>
                    <a:pt x="7239000" y="0"/>
                    <a:pt x="7349109" y="110109"/>
                    <a:pt x="7349109" y="245872"/>
                  </a:cubicBezTo>
                  <a:lnTo>
                    <a:pt x="7349109" y="3933317"/>
                  </a:lnTo>
                  <a:cubicBezTo>
                    <a:pt x="7349109" y="4069080"/>
                    <a:pt x="7239000" y="4179189"/>
                    <a:pt x="7103237" y="4179189"/>
                  </a:cubicBezTo>
                  <a:lnTo>
                    <a:pt x="245872" y="4179189"/>
                  </a:lnTo>
                  <a:cubicBezTo>
                    <a:pt x="110109" y="4179189"/>
                    <a:pt x="0" y="4069080"/>
                    <a:pt x="0" y="3933317"/>
                  </a:cubicBezTo>
                  <a:close/>
                </a:path>
              </a:pathLst>
            </a:custGeom>
            <a:solidFill>
              <a:srgbClr val="F8FAFC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6845303" y="6570983"/>
            <a:ext cx="939803" cy="939803"/>
            <a:chOff x="0" y="0"/>
            <a:chExt cx="1253071" cy="1253071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253109" cy="1253109"/>
            </a:xfrm>
            <a:custGeom>
              <a:avLst/>
              <a:gdLst/>
              <a:ahLst/>
              <a:cxnLst/>
              <a:rect r="r" b="b" t="t" l="l"/>
              <a:pathLst>
                <a:path h="1253109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cubicBezTo>
                    <a:pt x="972439" y="0"/>
                    <a:pt x="1253109" y="280543"/>
                    <a:pt x="1253109" y="626491"/>
                  </a:cubicBezTo>
                  <a:cubicBezTo>
                    <a:pt x="1253109" y="972439"/>
                    <a:pt x="972566" y="1253109"/>
                    <a:pt x="626491" y="1253109"/>
                  </a:cubicBezTo>
                  <a:cubicBezTo>
                    <a:pt x="280416" y="1253109"/>
                    <a:pt x="0" y="972566"/>
                    <a:pt x="0" y="626491"/>
                  </a:cubicBezTo>
                  <a:close/>
                </a:path>
              </a:pathLst>
            </a:custGeom>
            <a:solidFill>
              <a:srgbClr val="E0E7FF"/>
            </a:solidFill>
            <a:ln w="25400" cap="sq">
              <a:solidFill>
                <a:srgbClr val="E0E7FF"/>
              </a:solidFill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7004304" y="6729984"/>
            <a:ext cx="640080" cy="640080"/>
            <a:chOff x="0" y="0"/>
            <a:chExt cx="853440" cy="853440"/>
          </a:xfrm>
        </p:grpSpPr>
        <p:sp>
          <p:nvSpPr>
            <p:cNvPr name="Freeform 63" id="63" descr="preencoded.png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8046720" y="6675120"/>
            <a:ext cx="3566160" cy="731520"/>
            <a:chOff x="0" y="0"/>
            <a:chExt cx="4754880" cy="97536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4754880" cy="975360"/>
            </a:xfrm>
            <a:custGeom>
              <a:avLst/>
              <a:gdLst/>
              <a:ahLst/>
              <a:cxnLst/>
              <a:rect r="r" b="b" t="t" l="l"/>
              <a:pathLst>
                <a:path h="97536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989" r="0" b="-44989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19050"/>
              <a:ext cx="4754880" cy="994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E1B4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More Motivation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6858000" y="7772400"/>
            <a:ext cx="4754880" cy="1097280"/>
            <a:chOff x="0" y="0"/>
            <a:chExt cx="6339840" cy="146304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63398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435" r="0" b="-34435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9525"/>
              <a:ext cx="633984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Interactive quizzes and progress tracking keep learning fun.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2240263" y="6113783"/>
            <a:ext cx="5511803" cy="3134363"/>
            <a:chOff x="0" y="0"/>
            <a:chExt cx="7349071" cy="4179151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7349109" cy="4179189"/>
            </a:xfrm>
            <a:custGeom>
              <a:avLst/>
              <a:gdLst/>
              <a:ahLst/>
              <a:cxnLst/>
              <a:rect r="r" b="b" t="t" l="l"/>
              <a:pathLst>
                <a:path h="4179189" w="7349109">
                  <a:moveTo>
                    <a:pt x="0" y="245872"/>
                  </a:moveTo>
                  <a:cubicBezTo>
                    <a:pt x="0" y="110109"/>
                    <a:pt x="110109" y="0"/>
                    <a:pt x="245872" y="0"/>
                  </a:cubicBezTo>
                  <a:lnTo>
                    <a:pt x="7103237" y="0"/>
                  </a:lnTo>
                  <a:cubicBezTo>
                    <a:pt x="7239000" y="0"/>
                    <a:pt x="7349109" y="110109"/>
                    <a:pt x="7349109" y="245872"/>
                  </a:cubicBezTo>
                  <a:lnTo>
                    <a:pt x="7349109" y="3933317"/>
                  </a:lnTo>
                  <a:cubicBezTo>
                    <a:pt x="7349109" y="4069080"/>
                    <a:pt x="7239000" y="4179189"/>
                    <a:pt x="7103237" y="4179189"/>
                  </a:cubicBezTo>
                  <a:lnTo>
                    <a:pt x="245872" y="4179189"/>
                  </a:lnTo>
                  <a:cubicBezTo>
                    <a:pt x="110109" y="4179189"/>
                    <a:pt x="0" y="4069080"/>
                    <a:pt x="0" y="3933317"/>
                  </a:cubicBezTo>
                  <a:close/>
                </a:path>
              </a:pathLst>
            </a:custGeom>
            <a:solidFill>
              <a:srgbClr val="F8FAFC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72" id="72"/>
          <p:cNvGrpSpPr/>
          <p:nvPr/>
        </p:nvGrpSpPr>
        <p:grpSpPr>
          <a:xfrm rot="0">
            <a:off x="12606023" y="6570983"/>
            <a:ext cx="939803" cy="939803"/>
            <a:chOff x="0" y="0"/>
            <a:chExt cx="1253071" cy="1253071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253109" cy="1253109"/>
            </a:xfrm>
            <a:custGeom>
              <a:avLst/>
              <a:gdLst/>
              <a:ahLst/>
              <a:cxnLst/>
              <a:rect r="r" b="b" t="t" l="l"/>
              <a:pathLst>
                <a:path h="1253109" w="1253109">
                  <a:moveTo>
                    <a:pt x="0" y="626491"/>
                  </a:moveTo>
                  <a:cubicBezTo>
                    <a:pt x="0" y="280543"/>
                    <a:pt x="280543" y="0"/>
                    <a:pt x="626491" y="0"/>
                  </a:cubicBezTo>
                  <a:cubicBezTo>
                    <a:pt x="972439" y="0"/>
                    <a:pt x="1253109" y="280543"/>
                    <a:pt x="1253109" y="626491"/>
                  </a:cubicBezTo>
                  <a:cubicBezTo>
                    <a:pt x="1253109" y="972439"/>
                    <a:pt x="972566" y="1253109"/>
                    <a:pt x="626491" y="1253109"/>
                  </a:cubicBezTo>
                  <a:cubicBezTo>
                    <a:pt x="280416" y="1253109"/>
                    <a:pt x="0" y="972566"/>
                    <a:pt x="0" y="626491"/>
                  </a:cubicBezTo>
                  <a:close/>
                </a:path>
              </a:pathLst>
            </a:custGeom>
            <a:solidFill>
              <a:srgbClr val="E0E7FF"/>
            </a:solidFill>
            <a:ln w="25400" cap="sq">
              <a:solidFill>
                <a:srgbClr val="E0E7FF"/>
              </a:solidFill>
              <a:prstDash val="solid"/>
              <a:miter/>
            </a:ln>
          </p:spPr>
        </p:sp>
      </p:grpSp>
      <p:grpSp>
        <p:nvGrpSpPr>
          <p:cNvPr name="Group 74" id="74"/>
          <p:cNvGrpSpPr/>
          <p:nvPr/>
        </p:nvGrpSpPr>
        <p:grpSpPr>
          <a:xfrm rot="0">
            <a:off x="12765024" y="6729984"/>
            <a:ext cx="640080" cy="640080"/>
            <a:chOff x="0" y="0"/>
            <a:chExt cx="853440" cy="853440"/>
          </a:xfrm>
        </p:grpSpPr>
        <p:sp>
          <p:nvSpPr>
            <p:cNvPr name="Freeform 75" id="75" descr="preencoded.png"/>
            <p:cNvSpPr/>
            <p:nvPr/>
          </p:nvSpPr>
          <p:spPr>
            <a:xfrm flipH="false" flipV="false" rot="0">
              <a:off x="0" y="0"/>
              <a:ext cx="853440" cy="853440"/>
            </a:xfrm>
            <a:custGeom>
              <a:avLst/>
              <a:gdLst/>
              <a:ahLst/>
              <a:cxnLst/>
              <a:rect r="r" b="b" t="t" l="l"/>
              <a:pathLst>
                <a:path h="853440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853440"/>
                  </a:lnTo>
                  <a:lnTo>
                    <a:pt x="0" y="8534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13807440" y="6675120"/>
            <a:ext cx="3566160" cy="731520"/>
            <a:chOff x="0" y="0"/>
            <a:chExt cx="4754880" cy="97536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4754880" cy="975360"/>
            </a:xfrm>
            <a:custGeom>
              <a:avLst/>
              <a:gdLst/>
              <a:ahLst/>
              <a:cxnLst/>
              <a:rect r="r" b="b" t="t" l="l"/>
              <a:pathLst>
                <a:path h="97536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4989" r="0" b="-44989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19050"/>
              <a:ext cx="4754880" cy="994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E1B4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Always Available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2618720" y="7772400"/>
            <a:ext cx="4754880" cy="1097280"/>
            <a:chOff x="0" y="0"/>
            <a:chExt cx="6339840" cy="146304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6339840" cy="1463040"/>
            </a:xfrm>
            <a:custGeom>
              <a:avLst/>
              <a:gdLst/>
              <a:ahLst/>
              <a:cxnLst/>
              <a:rect r="r" b="b" t="t" l="l"/>
              <a:pathLst>
                <a:path h="146304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435" r="0" b="-34435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9525"/>
              <a:ext cx="6339840" cy="14725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Cloud-based — your learning companion is ready 24 hours a day.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244859"/>
            <a:chOff x="0" y="0"/>
            <a:chExt cx="24417871" cy="3264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17910" cy="326517"/>
            </a:xfrm>
            <a:custGeom>
              <a:avLst/>
              <a:gdLst/>
              <a:ahLst/>
              <a:cxnLst/>
              <a:rect r="r" b="b" t="t" l="l"/>
              <a:pathLst>
                <a:path h="326517" w="24417910">
                  <a:moveTo>
                    <a:pt x="0" y="0"/>
                  </a:moveTo>
                  <a:lnTo>
                    <a:pt x="24417910" y="0"/>
                  </a:lnTo>
                  <a:lnTo>
                    <a:pt x="24417910" y="326517"/>
                  </a:lnTo>
                  <a:lnTo>
                    <a:pt x="0" y="326517"/>
                  </a:lnTo>
                  <a:close/>
                </a:path>
              </a:pathLst>
            </a:custGeom>
            <a:solidFill>
              <a:srgbClr val="4F46E5"/>
            </a:solidFill>
            <a:ln w="25400" cap="sq">
              <a:solidFill>
                <a:srgbClr val="4F46E5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640080"/>
            <a:ext cx="7315200" cy="548640"/>
            <a:chOff x="0" y="0"/>
            <a:chExt cx="9753600" cy="7315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753600" cy="731520"/>
            </a:xfrm>
            <a:custGeom>
              <a:avLst/>
              <a:gdLst/>
              <a:ahLst/>
              <a:cxnLst/>
              <a:rect r="r" b="b" t="t" l="l"/>
              <a:pathLst>
                <a:path h="73152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9525"/>
              <a:ext cx="97536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 spc="400">
                  <a:solidFill>
                    <a:srgbClr val="4F46E5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OUR TEAM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914400" y="1280160"/>
            <a:ext cx="16459200" cy="822960"/>
            <a:chOff x="0" y="0"/>
            <a:chExt cx="21945600" cy="10972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19456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1E1B4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Meet the Minds Behind EduGenie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01703" y="2547623"/>
            <a:ext cx="7889243" cy="3683003"/>
            <a:chOff x="0" y="0"/>
            <a:chExt cx="10518991" cy="491067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519029" cy="4910709"/>
            </a:xfrm>
            <a:custGeom>
              <a:avLst/>
              <a:gdLst/>
              <a:ahLst/>
              <a:cxnLst/>
              <a:rect r="r" b="b" t="t" l="l"/>
              <a:pathLst>
                <a:path h="4910709" w="10519029">
                  <a:moveTo>
                    <a:pt x="0" y="294640"/>
                  </a:moveTo>
                  <a:cubicBezTo>
                    <a:pt x="0" y="131953"/>
                    <a:pt x="131953" y="0"/>
                    <a:pt x="294640" y="0"/>
                  </a:cubicBezTo>
                  <a:lnTo>
                    <a:pt x="10224389" y="0"/>
                  </a:lnTo>
                  <a:cubicBezTo>
                    <a:pt x="10387076" y="0"/>
                    <a:pt x="10519029" y="131953"/>
                    <a:pt x="10519029" y="294640"/>
                  </a:cubicBezTo>
                  <a:lnTo>
                    <a:pt x="10519029" y="4616069"/>
                  </a:lnTo>
                  <a:cubicBezTo>
                    <a:pt x="10519029" y="4778756"/>
                    <a:pt x="10387076" y="4910709"/>
                    <a:pt x="10224389" y="4910709"/>
                  </a:cubicBezTo>
                  <a:lnTo>
                    <a:pt x="294640" y="4910709"/>
                  </a:lnTo>
                  <a:cubicBezTo>
                    <a:pt x="131953" y="4910709"/>
                    <a:pt x="0" y="4778756"/>
                    <a:pt x="0" y="4616069"/>
                  </a:cubicBezTo>
                  <a:close/>
                </a:path>
              </a:pathLst>
            </a:custGeom>
            <a:solidFill>
              <a:srgbClr val="4F46E5"/>
            </a:solidFill>
            <a:ln w="25400" cap="sq">
              <a:solidFill>
                <a:srgbClr val="4F46E5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463040" y="3108960"/>
            <a:ext cx="1005840" cy="1005840"/>
            <a:chOff x="0" y="0"/>
            <a:chExt cx="1341120" cy="1341120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743200" y="3200400"/>
            <a:ext cx="5486400" cy="548640"/>
            <a:chOff x="0" y="0"/>
            <a:chExt cx="7315200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31520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73152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C7D2FE"/>
                  </a:solidFill>
                  <a:latin typeface="Arial"/>
                  <a:ea typeface="Arial"/>
                  <a:cs typeface="Arial"/>
                  <a:sym typeface="Arial"/>
                </a:rPr>
                <a:t>TEAM LEADER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743200" y="3840480"/>
            <a:ext cx="5486400" cy="822960"/>
            <a:chOff x="0" y="0"/>
            <a:chExt cx="7315200" cy="10972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3152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7315200" cy="1116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S. Nisha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743200" y="4754880"/>
            <a:ext cx="5486400" cy="548640"/>
            <a:chOff x="0" y="0"/>
            <a:chExt cx="7315200" cy="7315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31520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73152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A5B4FC"/>
                  </a:solidFill>
                  <a:latin typeface="Arial"/>
                  <a:ea typeface="Arial"/>
                  <a:cs typeface="Arial"/>
                  <a:sym typeface="Arial"/>
                </a:rPr>
                <a:t>Project Lead &amp; Vision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314183" y="2547623"/>
            <a:ext cx="3957323" cy="1671323"/>
            <a:chOff x="0" y="0"/>
            <a:chExt cx="5276431" cy="222843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276469" cy="2228469"/>
            </a:xfrm>
            <a:custGeom>
              <a:avLst/>
              <a:gdLst/>
              <a:ahLst/>
              <a:cxnLst/>
              <a:rect r="r" b="b" t="t" l="l"/>
              <a:pathLst>
                <a:path h="2228469" w="5276469">
                  <a:moveTo>
                    <a:pt x="0" y="198120"/>
                  </a:moveTo>
                  <a:cubicBezTo>
                    <a:pt x="0" y="88646"/>
                    <a:pt x="88646" y="0"/>
                    <a:pt x="198120" y="0"/>
                  </a:cubicBezTo>
                  <a:lnTo>
                    <a:pt x="5078349" y="0"/>
                  </a:lnTo>
                  <a:cubicBezTo>
                    <a:pt x="5187696" y="0"/>
                    <a:pt x="5276469" y="88646"/>
                    <a:pt x="5276469" y="198120"/>
                  </a:cubicBezTo>
                  <a:lnTo>
                    <a:pt x="5276469" y="2030349"/>
                  </a:lnTo>
                  <a:cubicBezTo>
                    <a:pt x="5276469" y="2139696"/>
                    <a:pt x="5187823" y="2228469"/>
                    <a:pt x="5078349" y="2228469"/>
                  </a:cubicBezTo>
                  <a:lnTo>
                    <a:pt x="198120" y="2228469"/>
                  </a:lnTo>
                  <a:cubicBezTo>
                    <a:pt x="88773" y="2228469"/>
                    <a:pt x="0" y="2139823"/>
                    <a:pt x="0" y="2030349"/>
                  </a:cubicBezTo>
                  <a:close/>
                </a:path>
              </a:pathLst>
            </a:custGeom>
            <a:solidFill>
              <a:srgbClr val="F8FAFC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9601200" y="2889504"/>
            <a:ext cx="3383280" cy="640080"/>
            <a:chOff x="0" y="0"/>
            <a:chExt cx="4511040" cy="8534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511040" cy="853440"/>
            </a:xfrm>
            <a:custGeom>
              <a:avLst/>
              <a:gdLst/>
              <a:ahLst/>
              <a:cxnLst/>
              <a:rect r="r" b="b" t="t" l="l"/>
              <a:pathLst>
                <a:path h="853440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992" r="0" b="-52992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451104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E1B4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K. Nishanth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601200" y="3474720"/>
            <a:ext cx="3383280" cy="457200"/>
            <a:chOff x="0" y="0"/>
            <a:chExt cx="4511040" cy="6096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511040" cy="609600"/>
            </a:xfrm>
            <a:custGeom>
              <a:avLst/>
              <a:gdLst/>
              <a:ahLst/>
              <a:cxnLst/>
              <a:rect r="r" b="b" t="t" l="l"/>
              <a:pathLst>
                <a:path h="609600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189" r="0" b="-94189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4511040" cy="628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Team Member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3520423" y="2547623"/>
            <a:ext cx="3957323" cy="1671323"/>
            <a:chOff x="0" y="0"/>
            <a:chExt cx="5276431" cy="222843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276469" cy="2228469"/>
            </a:xfrm>
            <a:custGeom>
              <a:avLst/>
              <a:gdLst/>
              <a:ahLst/>
              <a:cxnLst/>
              <a:rect r="r" b="b" t="t" l="l"/>
              <a:pathLst>
                <a:path h="2228469" w="5276469">
                  <a:moveTo>
                    <a:pt x="0" y="198120"/>
                  </a:moveTo>
                  <a:cubicBezTo>
                    <a:pt x="0" y="88646"/>
                    <a:pt x="88646" y="0"/>
                    <a:pt x="198120" y="0"/>
                  </a:cubicBezTo>
                  <a:lnTo>
                    <a:pt x="5078349" y="0"/>
                  </a:lnTo>
                  <a:cubicBezTo>
                    <a:pt x="5187696" y="0"/>
                    <a:pt x="5276469" y="88646"/>
                    <a:pt x="5276469" y="198120"/>
                  </a:cubicBezTo>
                  <a:lnTo>
                    <a:pt x="5276469" y="2030349"/>
                  </a:lnTo>
                  <a:cubicBezTo>
                    <a:pt x="5276469" y="2139696"/>
                    <a:pt x="5187823" y="2228469"/>
                    <a:pt x="5078349" y="2228469"/>
                  </a:cubicBezTo>
                  <a:lnTo>
                    <a:pt x="198120" y="2228469"/>
                  </a:lnTo>
                  <a:cubicBezTo>
                    <a:pt x="88773" y="2228469"/>
                    <a:pt x="0" y="2139823"/>
                    <a:pt x="0" y="2030349"/>
                  </a:cubicBezTo>
                  <a:close/>
                </a:path>
              </a:pathLst>
            </a:custGeom>
            <a:solidFill>
              <a:srgbClr val="F8FAFC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3807440" y="2889504"/>
            <a:ext cx="3383280" cy="640080"/>
            <a:chOff x="0" y="0"/>
            <a:chExt cx="4511040" cy="8534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511040" cy="853440"/>
            </a:xfrm>
            <a:custGeom>
              <a:avLst/>
              <a:gdLst/>
              <a:ahLst/>
              <a:cxnLst/>
              <a:rect r="r" b="b" t="t" l="l"/>
              <a:pathLst>
                <a:path h="853440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992" r="0" b="-52992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451104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E1B4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S. Nishanthini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3807440" y="3474720"/>
            <a:ext cx="3383280" cy="457200"/>
            <a:chOff x="0" y="0"/>
            <a:chExt cx="4511040" cy="6096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511040" cy="609600"/>
            </a:xfrm>
            <a:custGeom>
              <a:avLst/>
              <a:gdLst/>
              <a:ahLst/>
              <a:cxnLst/>
              <a:rect r="r" b="b" t="t" l="l"/>
              <a:pathLst>
                <a:path h="609600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189" r="0" b="-94189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4511040" cy="628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Team Member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314183" y="4467863"/>
            <a:ext cx="3957323" cy="1671323"/>
            <a:chOff x="0" y="0"/>
            <a:chExt cx="5276431" cy="222843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276469" cy="2228469"/>
            </a:xfrm>
            <a:custGeom>
              <a:avLst/>
              <a:gdLst/>
              <a:ahLst/>
              <a:cxnLst/>
              <a:rect r="r" b="b" t="t" l="l"/>
              <a:pathLst>
                <a:path h="2228469" w="5276469">
                  <a:moveTo>
                    <a:pt x="0" y="198120"/>
                  </a:moveTo>
                  <a:cubicBezTo>
                    <a:pt x="0" y="88646"/>
                    <a:pt x="88646" y="0"/>
                    <a:pt x="198120" y="0"/>
                  </a:cubicBezTo>
                  <a:lnTo>
                    <a:pt x="5078349" y="0"/>
                  </a:lnTo>
                  <a:cubicBezTo>
                    <a:pt x="5187696" y="0"/>
                    <a:pt x="5276469" y="88646"/>
                    <a:pt x="5276469" y="198120"/>
                  </a:cubicBezTo>
                  <a:lnTo>
                    <a:pt x="5276469" y="2030349"/>
                  </a:lnTo>
                  <a:cubicBezTo>
                    <a:pt x="5276469" y="2139696"/>
                    <a:pt x="5187823" y="2228469"/>
                    <a:pt x="5078349" y="2228469"/>
                  </a:cubicBezTo>
                  <a:lnTo>
                    <a:pt x="198120" y="2228469"/>
                  </a:lnTo>
                  <a:cubicBezTo>
                    <a:pt x="88773" y="2228469"/>
                    <a:pt x="0" y="2139823"/>
                    <a:pt x="0" y="2030349"/>
                  </a:cubicBezTo>
                  <a:close/>
                </a:path>
              </a:pathLst>
            </a:custGeom>
            <a:solidFill>
              <a:srgbClr val="F8FAFC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9601200" y="4809744"/>
            <a:ext cx="3383280" cy="640080"/>
            <a:chOff x="0" y="0"/>
            <a:chExt cx="4511040" cy="8534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511040" cy="853440"/>
            </a:xfrm>
            <a:custGeom>
              <a:avLst/>
              <a:gdLst/>
              <a:ahLst/>
              <a:cxnLst/>
              <a:rect r="r" b="b" t="t" l="l"/>
              <a:pathLst>
                <a:path h="853440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992" r="0" b="-52992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451104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E1B4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P.S. Prathap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601200" y="5394960"/>
            <a:ext cx="3383280" cy="457200"/>
            <a:chOff x="0" y="0"/>
            <a:chExt cx="4511040" cy="6096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511040" cy="609600"/>
            </a:xfrm>
            <a:custGeom>
              <a:avLst/>
              <a:gdLst/>
              <a:ahLst/>
              <a:cxnLst/>
              <a:rect r="r" b="b" t="t" l="l"/>
              <a:pathLst>
                <a:path h="609600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189" r="0" b="-94189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4511040" cy="628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Team Member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3520423" y="4467863"/>
            <a:ext cx="3957323" cy="1671323"/>
            <a:chOff x="0" y="0"/>
            <a:chExt cx="5276431" cy="222843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276469" cy="2228469"/>
            </a:xfrm>
            <a:custGeom>
              <a:avLst/>
              <a:gdLst/>
              <a:ahLst/>
              <a:cxnLst/>
              <a:rect r="r" b="b" t="t" l="l"/>
              <a:pathLst>
                <a:path h="2228469" w="5276469">
                  <a:moveTo>
                    <a:pt x="0" y="198120"/>
                  </a:moveTo>
                  <a:cubicBezTo>
                    <a:pt x="0" y="88646"/>
                    <a:pt x="88646" y="0"/>
                    <a:pt x="198120" y="0"/>
                  </a:cubicBezTo>
                  <a:lnTo>
                    <a:pt x="5078349" y="0"/>
                  </a:lnTo>
                  <a:cubicBezTo>
                    <a:pt x="5187696" y="0"/>
                    <a:pt x="5276469" y="88646"/>
                    <a:pt x="5276469" y="198120"/>
                  </a:cubicBezTo>
                  <a:lnTo>
                    <a:pt x="5276469" y="2030349"/>
                  </a:lnTo>
                  <a:cubicBezTo>
                    <a:pt x="5276469" y="2139696"/>
                    <a:pt x="5187823" y="2228469"/>
                    <a:pt x="5078349" y="2228469"/>
                  </a:cubicBezTo>
                  <a:lnTo>
                    <a:pt x="198120" y="2228469"/>
                  </a:lnTo>
                  <a:cubicBezTo>
                    <a:pt x="88773" y="2228469"/>
                    <a:pt x="0" y="2139823"/>
                    <a:pt x="0" y="2030349"/>
                  </a:cubicBezTo>
                  <a:close/>
                </a:path>
              </a:pathLst>
            </a:custGeom>
            <a:solidFill>
              <a:srgbClr val="F8FAFC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13807440" y="4809744"/>
            <a:ext cx="3383280" cy="640080"/>
            <a:chOff x="0" y="0"/>
            <a:chExt cx="4511040" cy="85344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511040" cy="853440"/>
            </a:xfrm>
            <a:custGeom>
              <a:avLst/>
              <a:gdLst/>
              <a:ahLst/>
              <a:cxnLst/>
              <a:rect r="r" b="b" t="t" l="l"/>
              <a:pathLst>
                <a:path h="853440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992" r="0" b="-52992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9050"/>
              <a:ext cx="4511040" cy="8724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1E1B4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K. Prakash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3807440" y="5394960"/>
            <a:ext cx="3383280" cy="457200"/>
            <a:chOff x="0" y="0"/>
            <a:chExt cx="4511040" cy="6096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511040" cy="609600"/>
            </a:xfrm>
            <a:custGeom>
              <a:avLst/>
              <a:gdLst/>
              <a:ahLst/>
              <a:cxnLst/>
              <a:rect r="r" b="b" t="t" l="l"/>
              <a:pathLst>
                <a:path h="609600" w="4511040">
                  <a:moveTo>
                    <a:pt x="0" y="0"/>
                  </a:moveTo>
                  <a:lnTo>
                    <a:pt x="4511040" y="0"/>
                  </a:lnTo>
                  <a:lnTo>
                    <a:pt x="451104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4189" r="0" b="-94189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19050"/>
              <a:ext cx="4511040" cy="6286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Team Member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901703" y="6753863"/>
            <a:ext cx="16484603" cy="2585723"/>
            <a:chOff x="0" y="0"/>
            <a:chExt cx="21979471" cy="3447631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1979510" cy="3447669"/>
            </a:xfrm>
            <a:custGeom>
              <a:avLst/>
              <a:gdLst/>
              <a:ahLst/>
              <a:cxnLst/>
              <a:rect r="r" b="b" t="t" l="l"/>
              <a:pathLst>
                <a:path h="3447669" w="21979510">
                  <a:moveTo>
                    <a:pt x="0" y="246253"/>
                  </a:moveTo>
                  <a:cubicBezTo>
                    <a:pt x="0" y="110236"/>
                    <a:pt x="110236" y="0"/>
                    <a:pt x="246253" y="0"/>
                  </a:cubicBezTo>
                  <a:lnTo>
                    <a:pt x="21733256" y="0"/>
                  </a:lnTo>
                  <a:cubicBezTo>
                    <a:pt x="21869273" y="0"/>
                    <a:pt x="21979510" y="110236"/>
                    <a:pt x="21979510" y="246253"/>
                  </a:cubicBezTo>
                  <a:lnTo>
                    <a:pt x="21979510" y="3201416"/>
                  </a:lnTo>
                  <a:cubicBezTo>
                    <a:pt x="21979510" y="3337433"/>
                    <a:pt x="21869273" y="3447669"/>
                    <a:pt x="21733256" y="3447669"/>
                  </a:cubicBezTo>
                  <a:lnTo>
                    <a:pt x="246253" y="3447669"/>
                  </a:lnTo>
                  <a:cubicBezTo>
                    <a:pt x="110236" y="3447669"/>
                    <a:pt x="0" y="3337433"/>
                    <a:pt x="0" y="3201416"/>
                  </a:cubicBezTo>
                  <a:close/>
                </a:path>
              </a:pathLst>
            </a:custGeom>
            <a:solidFill>
              <a:srgbClr val="F8FAFC"/>
            </a:solidFill>
            <a:ln w="25400" cap="sq">
              <a:solidFill>
                <a:srgbClr val="E2E8F0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901703" y="7589525"/>
            <a:ext cx="16459200" cy="914400"/>
            <a:chOff x="0" y="0"/>
            <a:chExt cx="21945600" cy="12192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19456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0730" r="0" b="-30073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19050"/>
              <a:ext cx="21945600" cy="12382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759"/>
                </a:lnSpc>
              </a:pPr>
              <a:r>
                <a:rPr lang="en-US" sz="4800" b="true">
                  <a:solidFill>
                    <a:srgbClr val="1E1B4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Thank You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DAHWGYWRQ5A</dc:identifier>
  <dcterms:modified xsi:type="dcterms:W3CDTF">2011-08-01T06:04:30Z</dcterms:modified>
  <cp:revision>1</cp:revision>
  <dc:title>EduGenie_Explanation.pptx</dc:title>
</cp:coreProperties>
</file>